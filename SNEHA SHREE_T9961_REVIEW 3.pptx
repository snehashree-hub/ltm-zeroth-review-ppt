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7470489" r:id="rId2"/>
    <p:sldId id="2147470492" r:id="rId3"/>
    <p:sldId id="2147470493" r:id="rId4"/>
    <p:sldId id="2147470494" r:id="rId5"/>
    <p:sldId id="2147470503" r:id="rId6"/>
    <p:sldId id="2147470497" r:id="rId7"/>
    <p:sldId id="2147470498" r:id="rId8"/>
    <p:sldId id="2147470500" r:id="rId9"/>
    <p:sldId id="2147470504" r:id="rId10"/>
    <p:sldId id="2147470505" r:id="rId11"/>
    <p:sldId id="2147470506" r:id="rId12"/>
    <p:sldId id="2147470507" r:id="rId13"/>
    <p:sldId id="2147470499" r:id="rId14"/>
    <p:sldId id="2147470508" r:id="rId15"/>
    <p:sldId id="214747050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5B9ED"/>
    <a:srgbClr val="47BDAE"/>
    <a:srgbClr val="30BBDA"/>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4" d="100"/>
          <a:sy n="64" d="100"/>
        </p:scale>
        <p:origin x="978" y="8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microsoft.com/office/2007/relationships/hdphoto" Target="../media/hdphoto3.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M.Tech/MCA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80236" y="1659822"/>
            <a:ext cx="11428184" cy="57246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a:solidFill>
                  <a:prstClr val="white"/>
                </a:solidFill>
                <a:cs typeface="Calibri" panose="020F0502020204030204" pitchFamily="34" charset="0"/>
              </a:rPr>
              <a:t>Review III</a:t>
            </a:r>
            <a:endParaRPr lang="en-US" sz="3600" b="1" dirty="0">
              <a:solidFill>
                <a:prstClr val="white"/>
              </a:solidFill>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Project Title</a:t>
            </a:r>
          </a:p>
          <a:p>
            <a:pPr algn="ctr">
              <a:defRPr/>
            </a:pPr>
            <a:r>
              <a:rPr lang="en-IN" sz="3600" b="1" dirty="0" err="1">
                <a:solidFill>
                  <a:schemeClr val="bg1"/>
                </a:solidFill>
              </a:rPr>
              <a:t>EduTrace</a:t>
            </a:r>
            <a:r>
              <a:rPr lang="en-IN" sz="3600" b="1" dirty="0">
                <a:solidFill>
                  <a:schemeClr val="bg1"/>
                </a:solidFill>
              </a:rPr>
              <a:t>: Exam-Aware Personalized RAG Assistant</a:t>
            </a:r>
          </a:p>
          <a:p>
            <a:pPr algn="ctr">
              <a:defRPr/>
            </a:pPr>
            <a:endParaRPr lang="en-IN" sz="3600" b="1" dirty="0">
              <a:solidFill>
                <a:schemeClr val="bg1"/>
              </a:solidFill>
            </a:endParaRPr>
          </a:p>
          <a:p>
            <a:pPr algn="ctr">
              <a:defRPr/>
            </a:pPr>
            <a:r>
              <a:rPr lang="en-IN" sz="2400" dirty="0" err="1">
                <a:solidFill>
                  <a:schemeClr val="bg1"/>
                </a:solidFill>
              </a:rPr>
              <a:t>M.Tech</a:t>
            </a:r>
            <a:r>
              <a:rPr lang="en-IN" sz="2400" dirty="0">
                <a:solidFill>
                  <a:schemeClr val="bg1"/>
                </a:solidFill>
              </a:rPr>
              <a:t> / </a:t>
            </a:r>
            <a:r>
              <a:rPr lang="en-IN" sz="2400" dirty="0">
                <a:solidFill>
                  <a:srgbClr val="FFFFFF"/>
                </a:solidFill>
              </a:rPr>
              <a:t>B.S. Abdur Rahman Crescent Institute of Science and Technology/T9961</a:t>
            </a:r>
            <a:endParaRPr lang="en-IN" sz="2400" dirty="0">
              <a:solidFill>
                <a:srgbClr val="FFFFFF"/>
              </a:solidFill>
              <a:highlight>
                <a:srgbClr val="FFFFFF"/>
              </a:highlight>
            </a:endParaRPr>
          </a:p>
          <a:p>
            <a:pPr lvl="0" algn="ctr">
              <a:defRPr/>
            </a:pPr>
            <a:r>
              <a:rPr lang="en-IN" dirty="0">
                <a:highlight>
                  <a:srgbClr val="FFFFFF"/>
                </a:highlight>
              </a:rPr>
              <a:t> </a:t>
            </a:r>
            <a:endParaRPr kumimoji="0" lang="en-US" sz="5400" i="0" u="none" strike="noStrike" kern="1200" cap="none" spc="0" normalizeH="0" baseline="0" noProof="0" dirty="0">
              <a:ln>
                <a:noFill/>
              </a:ln>
              <a:effectLst/>
              <a:highlight>
                <a:srgbClr val="FFFFFF"/>
              </a:highligh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Team Member</a:t>
            </a:r>
          </a:p>
          <a:p>
            <a:pPr lvl="0" algn="ctr">
              <a:defRPr/>
            </a:pPr>
            <a:r>
              <a:rPr lang="en-US" sz="2400" b="1" dirty="0">
                <a:solidFill>
                  <a:prstClr val="white"/>
                </a:solidFill>
                <a:cs typeface="Calibri" panose="020F0502020204030204" pitchFamily="34" charset="0"/>
              </a:rPr>
              <a:t>SNEHA SHREE S</a:t>
            </a:r>
          </a:p>
          <a:p>
            <a:pPr lvl="0" algn="ctr">
              <a:defRPr/>
            </a:pPr>
            <a:r>
              <a:rPr lang="en-US" sz="2400" b="1" dirty="0">
                <a:solidFill>
                  <a:prstClr val="white"/>
                </a:solidFill>
                <a:cs typeface="Calibri" panose="020F0502020204030204" pitchFamily="34" charset="0"/>
              </a:rPr>
              <a:t>CRESCENT 2025-27</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9" name="Picture 2" descr="LTIMindtree - Technology Consulting and Digital Solutions Company">
            <a:extLst>
              <a:ext uri="{FF2B5EF4-FFF2-40B4-BE49-F238E27FC236}">
                <a16:creationId xmlns:a16="http://schemas.microsoft.com/office/drawing/2014/main" id="{B3D78849-E5F7-1DB2-227F-14244586123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0" y="5852667"/>
            <a:ext cx="3886489" cy="864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507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621704" y="1594385"/>
            <a:ext cx="10624338" cy="4345603"/>
          </a:xfrm>
        </p:spPr>
        <p:txBody>
          <a:bodyPr/>
          <a:lstStyle/>
          <a:p>
            <a:pPr lvl="0"/>
            <a:r>
              <a:rPr lang="en-IN" sz="2400" b="0" dirty="0">
                <a:solidFill>
                  <a:schemeClr val="tx1">
                    <a:lumMod val="95000"/>
                    <a:lumOff val="5000"/>
                  </a:schemeClr>
                </a:solidFill>
              </a:rPr>
              <a:t>AI-powered learning platform for personalized academic guidance. </a:t>
            </a:r>
          </a:p>
          <a:p>
            <a:pPr lvl="0"/>
            <a:r>
              <a:rPr lang="en-IN" sz="2400" b="0" dirty="0" err="1">
                <a:solidFill>
                  <a:schemeClr val="tx1">
                    <a:lumMod val="95000"/>
                    <a:lumOff val="5000"/>
                  </a:schemeClr>
                </a:solidFill>
              </a:rPr>
              <a:t>Analyzes</a:t>
            </a:r>
            <a:r>
              <a:rPr lang="en-IN" sz="2400" b="0" dirty="0">
                <a:solidFill>
                  <a:schemeClr val="tx1">
                    <a:lumMod val="95000"/>
                    <a:lumOff val="5000"/>
                  </a:schemeClr>
                </a:solidFill>
              </a:rPr>
              <a:t> learner performance and academic data. </a:t>
            </a:r>
          </a:p>
          <a:p>
            <a:pPr lvl="0"/>
            <a:r>
              <a:rPr lang="en-IN" sz="2400" b="0" dirty="0">
                <a:solidFill>
                  <a:schemeClr val="tx1">
                    <a:lumMod val="95000"/>
                    <a:lumOff val="5000"/>
                  </a:schemeClr>
                </a:solidFill>
              </a:rPr>
              <a:t>Identifies weak topics and learning gaps. </a:t>
            </a:r>
          </a:p>
          <a:p>
            <a:pPr lvl="0"/>
            <a:r>
              <a:rPr lang="en-IN" sz="2400" b="0" dirty="0">
                <a:solidFill>
                  <a:schemeClr val="tx1">
                    <a:lumMod val="95000"/>
                    <a:lumOff val="5000"/>
                  </a:schemeClr>
                </a:solidFill>
              </a:rPr>
              <a:t>Uses educational resources such as syllabus, notes, and study materials. </a:t>
            </a:r>
          </a:p>
          <a:p>
            <a:pPr lvl="0"/>
            <a:r>
              <a:rPr lang="en-IN" sz="2400" b="0" dirty="0">
                <a:solidFill>
                  <a:schemeClr val="tx1">
                    <a:lumMod val="95000"/>
                    <a:lumOff val="5000"/>
                  </a:schemeClr>
                </a:solidFill>
              </a:rPr>
              <a:t>Uses RAG (Retrieval-Augmented Generation) to retrieve relevant information. </a:t>
            </a:r>
          </a:p>
          <a:p>
            <a:pPr lvl="0"/>
            <a:r>
              <a:rPr lang="en-IN" sz="2400" b="0" dirty="0">
                <a:solidFill>
                  <a:schemeClr val="tx1">
                    <a:lumMod val="95000"/>
                    <a:lumOff val="5000"/>
                  </a:schemeClr>
                </a:solidFill>
              </a:rPr>
              <a:t>Provides personalized concept explanations. </a:t>
            </a:r>
          </a:p>
          <a:p>
            <a:pPr lvl="0"/>
            <a:r>
              <a:rPr lang="en-IN" sz="2400" b="0" dirty="0">
                <a:solidFill>
                  <a:schemeClr val="tx1">
                    <a:lumMod val="95000"/>
                    <a:lumOff val="5000"/>
                  </a:schemeClr>
                </a:solidFill>
              </a:rPr>
              <a:t>Generates examples, key points, and important questions. </a:t>
            </a:r>
          </a:p>
          <a:p>
            <a:pPr lvl="0"/>
            <a:r>
              <a:rPr lang="en-IN" sz="2400" b="0" dirty="0">
                <a:solidFill>
                  <a:schemeClr val="tx1">
                    <a:lumMod val="95000"/>
                    <a:lumOff val="5000"/>
                  </a:schemeClr>
                </a:solidFill>
              </a:rPr>
              <a:t>Supports both concept understanding and exam preparation. </a:t>
            </a:r>
          </a:p>
          <a:p>
            <a:pPr lvl="0"/>
            <a:r>
              <a:rPr lang="en-IN" sz="2400" b="0" dirty="0">
                <a:solidFill>
                  <a:schemeClr val="tx1">
                    <a:lumMod val="95000"/>
                    <a:lumOff val="5000"/>
                  </a:schemeClr>
                </a:solidFill>
              </a:rPr>
              <a:t>Helps learners follow a focused and effective learning approach. </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err="1">
                <a:ln>
                  <a:noFill/>
                </a:ln>
                <a:solidFill>
                  <a:srgbClr val="5B9BD5">
                    <a:lumMod val="50000"/>
                  </a:srgbClr>
                </a:solidFill>
                <a:effectLst/>
                <a:uLnTx/>
                <a:uFillTx/>
                <a:latin typeface="Calibri" panose="020F0502020204030204"/>
                <a:ea typeface="+mn-ea"/>
                <a:cs typeface="+mn-cs"/>
              </a:rPr>
              <a:t>Introductio</a:t>
            </a:r>
            <a:r>
              <a:rPr lang="en-US" sz="3600" b="1" dirty="0">
                <a:solidFill>
                  <a:srgbClr val="5B9BD5">
                    <a:lumMod val="50000"/>
                  </a:srgbClr>
                </a:solidFill>
                <a:latin typeface="Calibri" panose="020F0502020204030204"/>
              </a:rPr>
              <a:t>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781724" y="1594385"/>
            <a:ext cx="10624338" cy="4142989"/>
          </a:xfrm>
        </p:spPr>
        <p:txBody>
          <a:bodyPr/>
          <a:lstStyle/>
          <a:p>
            <a:pPr lvl="0"/>
            <a:r>
              <a:rPr lang="en-IN" sz="2400" dirty="0" err="1">
                <a:solidFill>
                  <a:schemeClr val="tx1">
                    <a:lumMod val="95000"/>
                    <a:lumOff val="5000"/>
                  </a:schemeClr>
                </a:solidFill>
              </a:rPr>
              <a:t>Analyze</a:t>
            </a:r>
            <a:r>
              <a:rPr lang="en-IN" sz="2400" dirty="0">
                <a:solidFill>
                  <a:schemeClr val="tx1">
                    <a:lumMod val="95000"/>
                    <a:lumOff val="5000"/>
                  </a:schemeClr>
                </a:solidFill>
              </a:rPr>
              <a:t> learner academic performance and assessment data. </a:t>
            </a:r>
          </a:p>
          <a:p>
            <a:pPr lvl="0"/>
            <a:r>
              <a:rPr lang="en-IN" sz="2400" dirty="0">
                <a:solidFill>
                  <a:schemeClr val="tx1">
                    <a:lumMod val="95000"/>
                    <a:lumOff val="5000"/>
                  </a:schemeClr>
                </a:solidFill>
              </a:rPr>
              <a:t>Identify weak subjects, topics, and learning gaps. </a:t>
            </a:r>
          </a:p>
          <a:p>
            <a:pPr lvl="0"/>
            <a:r>
              <a:rPr lang="en-IN" sz="2400" dirty="0">
                <a:solidFill>
                  <a:schemeClr val="tx1">
                    <a:lumMod val="95000"/>
                    <a:lumOff val="5000"/>
                  </a:schemeClr>
                </a:solidFill>
              </a:rPr>
              <a:t>Provide personalized concept explanations and examples. </a:t>
            </a:r>
          </a:p>
          <a:p>
            <a:pPr lvl="0"/>
            <a:r>
              <a:rPr lang="en-IN" sz="2400" dirty="0">
                <a:solidFill>
                  <a:schemeClr val="tx1">
                    <a:lumMod val="95000"/>
                    <a:lumOff val="5000"/>
                  </a:schemeClr>
                </a:solidFill>
              </a:rPr>
              <a:t>Retrieve relevant information from syllabus, notes, and study materials. </a:t>
            </a:r>
          </a:p>
          <a:p>
            <a:pPr lvl="0"/>
            <a:r>
              <a:rPr lang="en-IN" sz="2400" dirty="0">
                <a:solidFill>
                  <a:schemeClr val="tx1">
                    <a:lumMod val="95000"/>
                    <a:lumOff val="5000"/>
                  </a:schemeClr>
                </a:solidFill>
              </a:rPr>
              <a:t>Generate important and exam-oriented questions. </a:t>
            </a:r>
          </a:p>
          <a:p>
            <a:pPr lvl="0"/>
            <a:r>
              <a:rPr lang="en-IN" sz="2400" dirty="0">
                <a:solidFill>
                  <a:schemeClr val="tx1">
                    <a:lumMod val="95000"/>
                    <a:lumOff val="5000"/>
                  </a:schemeClr>
                </a:solidFill>
              </a:rPr>
              <a:t>Provide an interactive AI learning assistant. </a:t>
            </a:r>
          </a:p>
          <a:p>
            <a:pPr lvl="0"/>
            <a:r>
              <a:rPr lang="en-IN" sz="2400" dirty="0">
                <a:solidFill>
                  <a:schemeClr val="tx1">
                    <a:lumMod val="95000"/>
                    <a:lumOff val="5000"/>
                  </a:schemeClr>
                </a:solidFill>
              </a:rPr>
              <a:t>Help learners focus on areas that require more attention and practice. </a:t>
            </a:r>
          </a:p>
          <a:p>
            <a:pPr lvl="0"/>
            <a:r>
              <a:rPr lang="en-IN" sz="2400" dirty="0">
                <a:solidFill>
                  <a:schemeClr val="tx1">
                    <a:lumMod val="95000"/>
                    <a:lumOff val="5000"/>
                  </a:schemeClr>
                </a:solidFill>
              </a:rPr>
              <a:t>Create a unified and intelligent personal learning workspace.</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325C8EF-A5DD-AB22-0372-51B9ABE63526}"/>
              </a:ext>
            </a:extLst>
          </p:cNvPr>
          <p:cNvSpPr>
            <a:spLocks noGrp="1"/>
          </p:cNvSpPr>
          <p:nvPr>
            <p:ph type="body" sz="quarter" idx="13"/>
          </p:nvPr>
        </p:nvSpPr>
        <p:spPr>
          <a:xfrm>
            <a:off x="484596" y="1819859"/>
            <a:ext cx="10624338" cy="4142989"/>
          </a:xfrm>
        </p:spPr>
        <p:txBody>
          <a:bodyPr/>
          <a:lstStyle/>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CB15F4B8-EED0-F7BE-96C7-D7AAE989A25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Methodology/Modeling Plan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6" name="Table 5">
            <a:extLst>
              <a:ext uri="{FF2B5EF4-FFF2-40B4-BE49-F238E27FC236}">
                <a16:creationId xmlns:a16="http://schemas.microsoft.com/office/drawing/2014/main" id="{4A7F0261-C9DB-9F01-CE32-8A0DD9436C0B}"/>
              </a:ext>
            </a:extLst>
          </p:cNvPr>
          <p:cNvGraphicFramePr>
            <a:graphicFrameLocks noGrp="1"/>
          </p:cNvGraphicFramePr>
          <p:nvPr>
            <p:extLst>
              <p:ext uri="{D42A27DB-BD31-4B8C-83A1-F6EECF244321}">
                <p14:modId xmlns:p14="http://schemas.microsoft.com/office/powerpoint/2010/main" val="858317969"/>
              </p:ext>
            </p:extLst>
          </p:nvPr>
        </p:nvGraphicFramePr>
        <p:xfrm>
          <a:off x="484596" y="1374350"/>
          <a:ext cx="11197818" cy="4043790"/>
        </p:xfrm>
        <a:graphic>
          <a:graphicData uri="http://schemas.openxmlformats.org/drawingml/2006/table">
            <a:tbl>
              <a:tblPr>
                <a:tableStyleId>{5C22544A-7EE6-4342-B048-85BDC9FD1C3A}</a:tableStyleId>
              </a:tblPr>
              <a:tblGrid>
                <a:gridCol w="5598909">
                  <a:extLst>
                    <a:ext uri="{9D8B030D-6E8A-4147-A177-3AD203B41FA5}">
                      <a16:colId xmlns:a16="http://schemas.microsoft.com/office/drawing/2014/main" val="663122267"/>
                    </a:ext>
                  </a:extLst>
                </a:gridCol>
                <a:gridCol w="5598909">
                  <a:extLst>
                    <a:ext uri="{9D8B030D-6E8A-4147-A177-3AD203B41FA5}">
                      <a16:colId xmlns:a16="http://schemas.microsoft.com/office/drawing/2014/main" val="3858969921"/>
                    </a:ext>
                  </a:extLst>
                </a:gridCol>
              </a:tblGrid>
              <a:tr h="404379">
                <a:tc>
                  <a:txBody>
                    <a:bodyPr/>
                    <a:lstStyle/>
                    <a:p>
                      <a:pPr>
                        <a:buNone/>
                      </a:pPr>
                      <a:r>
                        <a:rPr lang="en-IN"/>
                        <a:t>Module</a:t>
                      </a:r>
                    </a:p>
                  </a:txBody>
                  <a:tcPr anchor="ctr"/>
                </a:tc>
                <a:tc>
                  <a:txBody>
                    <a:bodyPr/>
                    <a:lstStyle/>
                    <a:p>
                      <a:pPr>
                        <a:buNone/>
                      </a:pPr>
                      <a:r>
                        <a:rPr lang="en-IN"/>
                        <a:t>Function</a:t>
                      </a:r>
                    </a:p>
                  </a:txBody>
                  <a:tcPr anchor="ctr"/>
                </a:tc>
                <a:extLst>
                  <a:ext uri="{0D108BD9-81ED-4DB2-BD59-A6C34878D82A}">
                    <a16:rowId xmlns:a16="http://schemas.microsoft.com/office/drawing/2014/main" val="2622396089"/>
                  </a:ext>
                </a:extLst>
              </a:tr>
              <a:tr h="404379">
                <a:tc>
                  <a:txBody>
                    <a:bodyPr/>
                    <a:lstStyle/>
                    <a:p>
                      <a:pPr>
                        <a:buNone/>
                      </a:pPr>
                      <a:r>
                        <a:rPr lang="en-IN"/>
                        <a:t>Dashboard</a:t>
                      </a:r>
                    </a:p>
                  </a:txBody>
                  <a:tcPr anchor="ctr"/>
                </a:tc>
                <a:tc>
                  <a:txBody>
                    <a:bodyPr/>
                    <a:lstStyle/>
                    <a:p>
                      <a:pPr>
                        <a:buNone/>
                      </a:pPr>
                      <a:r>
                        <a:rPr lang="en-IN"/>
                        <a:t>Provides an overview of learner progress</a:t>
                      </a:r>
                    </a:p>
                  </a:txBody>
                  <a:tcPr anchor="ctr"/>
                </a:tc>
                <a:extLst>
                  <a:ext uri="{0D108BD9-81ED-4DB2-BD59-A6C34878D82A}">
                    <a16:rowId xmlns:a16="http://schemas.microsoft.com/office/drawing/2014/main" val="2183157667"/>
                  </a:ext>
                </a:extLst>
              </a:tr>
              <a:tr h="404379">
                <a:tc>
                  <a:txBody>
                    <a:bodyPr/>
                    <a:lstStyle/>
                    <a:p>
                      <a:pPr>
                        <a:buNone/>
                      </a:pPr>
                      <a:r>
                        <a:rPr lang="en-IN"/>
                        <a:t>Performance Analyzer</a:t>
                      </a:r>
                    </a:p>
                  </a:txBody>
                  <a:tcPr anchor="ctr"/>
                </a:tc>
                <a:tc>
                  <a:txBody>
                    <a:bodyPr/>
                    <a:lstStyle/>
                    <a:p>
                      <a:pPr>
                        <a:buNone/>
                      </a:pPr>
                      <a:r>
                        <a:rPr lang="en-IN"/>
                        <a:t>Analyzes marks and identifies performance patterns</a:t>
                      </a:r>
                    </a:p>
                  </a:txBody>
                  <a:tcPr anchor="ctr"/>
                </a:tc>
                <a:extLst>
                  <a:ext uri="{0D108BD9-81ED-4DB2-BD59-A6C34878D82A}">
                    <a16:rowId xmlns:a16="http://schemas.microsoft.com/office/drawing/2014/main" val="1854993059"/>
                  </a:ext>
                </a:extLst>
              </a:tr>
              <a:tr h="404379">
                <a:tc>
                  <a:txBody>
                    <a:bodyPr/>
                    <a:lstStyle/>
                    <a:p>
                      <a:pPr>
                        <a:buNone/>
                      </a:pPr>
                      <a:r>
                        <a:rPr lang="en-IN"/>
                        <a:t>AI Assistant</a:t>
                      </a:r>
                    </a:p>
                  </a:txBody>
                  <a:tcPr anchor="ctr"/>
                </a:tc>
                <a:tc>
                  <a:txBody>
                    <a:bodyPr/>
                    <a:lstStyle/>
                    <a:p>
                      <a:pPr>
                        <a:buNone/>
                      </a:pPr>
                      <a:r>
                        <a:rPr lang="en-IN"/>
                        <a:t>Answers academic questions and explains concepts</a:t>
                      </a:r>
                    </a:p>
                  </a:txBody>
                  <a:tcPr anchor="ctr"/>
                </a:tc>
                <a:extLst>
                  <a:ext uri="{0D108BD9-81ED-4DB2-BD59-A6C34878D82A}">
                    <a16:rowId xmlns:a16="http://schemas.microsoft.com/office/drawing/2014/main" val="1258515623"/>
                  </a:ext>
                </a:extLst>
              </a:tr>
              <a:tr h="404379">
                <a:tc>
                  <a:txBody>
                    <a:bodyPr/>
                    <a:lstStyle/>
                    <a:p>
                      <a:pPr>
                        <a:buNone/>
                      </a:pPr>
                      <a:r>
                        <a:rPr lang="en-IN"/>
                        <a:t>Knowledge Vault</a:t>
                      </a:r>
                    </a:p>
                  </a:txBody>
                  <a:tcPr anchor="ctr"/>
                </a:tc>
                <a:tc>
                  <a:txBody>
                    <a:bodyPr/>
                    <a:lstStyle/>
                    <a:p>
                      <a:pPr>
                        <a:buNone/>
                      </a:pPr>
                      <a:r>
                        <a:rPr lang="en-IN"/>
                        <a:t>Stores and manages learning documents</a:t>
                      </a:r>
                    </a:p>
                  </a:txBody>
                  <a:tcPr anchor="ctr"/>
                </a:tc>
                <a:extLst>
                  <a:ext uri="{0D108BD9-81ED-4DB2-BD59-A6C34878D82A}">
                    <a16:rowId xmlns:a16="http://schemas.microsoft.com/office/drawing/2014/main" val="3898393673"/>
                  </a:ext>
                </a:extLst>
              </a:tr>
              <a:tr h="404379">
                <a:tc>
                  <a:txBody>
                    <a:bodyPr/>
                    <a:lstStyle/>
                    <a:p>
                      <a:pPr>
                        <a:buNone/>
                      </a:pPr>
                      <a:r>
                        <a:rPr lang="en-IN"/>
                        <a:t>RAG Engine</a:t>
                      </a:r>
                    </a:p>
                  </a:txBody>
                  <a:tcPr anchor="ctr"/>
                </a:tc>
                <a:tc>
                  <a:txBody>
                    <a:bodyPr/>
                    <a:lstStyle/>
                    <a:p>
                      <a:pPr>
                        <a:buNone/>
                      </a:pPr>
                      <a:r>
                        <a:rPr lang="en-IN"/>
                        <a:t>Retrieves relevant information from the knowledge base</a:t>
                      </a:r>
                    </a:p>
                  </a:txBody>
                  <a:tcPr anchor="ctr"/>
                </a:tc>
                <a:extLst>
                  <a:ext uri="{0D108BD9-81ED-4DB2-BD59-A6C34878D82A}">
                    <a16:rowId xmlns:a16="http://schemas.microsoft.com/office/drawing/2014/main" val="1229920064"/>
                  </a:ext>
                </a:extLst>
              </a:tr>
              <a:tr h="404379">
                <a:tc>
                  <a:txBody>
                    <a:bodyPr/>
                    <a:lstStyle/>
                    <a:p>
                      <a:pPr>
                        <a:buNone/>
                      </a:pPr>
                      <a:r>
                        <a:rPr lang="en-IN"/>
                        <a:t>Topic Analyzer</a:t>
                      </a:r>
                    </a:p>
                  </a:txBody>
                  <a:tcPr anchor="ctr"/>
                </a:tc>
                <a:tc>
                  <a:txBody>
                    <a:bodyPr/>
                    <a:lstStyle/>
                    <a:p>
                      <a:pPr>
                        <a:buNone/>
                      </a:pPr>
                      <a:r>
                        <a:rPr lang="en-IN"/>
                        <a:t>Identifies weak and important topics</a:t>
                      </a:r>
                    </a:p>
                  </a:txBody>
                  <a:tcPr anchor="ctr"/>
                </a:tc>
                <a:extLst>
                  <a:ext uri="{0D108BD9-81ED-4DB2-BD59-A6C34878D82A}">
                    <a16:rowId xmlns:a16="http://schemas.microsoft.com/office/drawing/2014/main" val="3950578770"/>
                  </a:ext>
                </a:extLst>
              </a:tr>
              <a:tr h="404379">
                <a:tc>
                  <a:txBody>
                    <a:bodyPr/>
                    <a:lstStyle/>
                    <a:p>
                      <a:pPr>
                        <a:buNone/>
                      </a:pPr>
                      <a:r>
                        <a:rPr lang="en-IN"/>
                        <a:t>Exam Preparation</a:t>
                      </a:r>
                    </a:p>
                  </a:txBody>
                  <a:tcPr anchor="ctr"/>
                </a:tc>
                <a:tc>
                  <a:txBody>
                    <a:bodyPr/>
                    <a:lstStyle/>
                    <a:p>
                      <a:pPr>
                        <a:buNone/>
                      </a:pPr>
                      <a:r>
                        <a:rPr lang="en-IN"/>
                        <a:t>Supports question-based exam preparation</a:t>
                      </a:r>
                    </a:p>
                  </a:txBody>
                  <a:tcPr anchor="ctr"/>
                </a:tc>
                <a:extLst>
                  <a:ext uri="{0D108BD9-81ED-4DB2-BD59-A6C34878D82A}">
                    <a16:rowId xmlns:a16="http://schemas.microsoft.com/office/drawing/2014/main" val="127544460"/>
                  </a:ext>
                </a:extLst>
              </a:tr>
              <a:tr h="404379">
                <a:tc>
                  <a:txBody>
                    <a:bodyPr/>
                    <a:lstStyle/>
                    <a:p>
                      <a:pPr>
                        <a:buNone/>
                      </a:pPr>
                      <a:r>
                        <a:rPr lang="en-IN"/>
                        <a:t>EduBot</a:t>
                      </a:r>
                    </a:p>
                  </a:txBody>
                  <a:tcPr anchor="ctr"/>
                </a:tc>
                <a:tc>
                  <a:txBody>
                    <a:bodyPr/>
                    <a:lstStyle/>
                    <a:p>
                      <a:pPr>
                        <a:buNone/>
                      </a:pPr>
                      <a:r>
                        <a:rPr lang="en-IN"/>
                        <a:t>Provides interactive AI-based concept teaching</a:t>
                      </a:r>
                    </a:p>
                  </a:txBody>
                  <a:tcPr anchor="ctr"/>
                </a:tc>
                <a:extLst>
                  <a:ext uri="{0D108BD9-81ED-4DB2-BD59-A6C34878D82A}">
                    <a16:rowId xmlns:a16="http://schemas.microsoft.com/office/drawing/2014/main" val="2165919634"/>
                  </a:ext>
                </a:extLst>
              </a:tr>
              <a:tr h="404379">
                <a:tc>
                  <a:txBody>
                    <a:bodyPr/>
                    <a:lstStyle/>
                    <a:p>
                      <a:pPr>
                        <a:buNone/>
                      </a:pPr>
                      <a:r>
                        <a:rPr lang="en-IN"/>
                        <a:t>Analytics</a:t>
                      </a:r>
                    </a:p>
                  </a:txBody>
                  <a:tcPr anchor="ctr"/>
                </a:tc>
                <a:tc>
                  <a:txBody>
                    <a:bodyPr/>
                    <a:lstStyle/>
                    <a:p>
                      <a:pPr>
                        <a:buNone/>
                      </a:pPr>
                      <a:r>
                        <a:rPr lang="en-IN" dirty="0"/>
                        <a:t>Displays learning insights and performance trends</a:t>
                      </a:r>
                    </a:p>
                  </a:txBody>
                  <a:tcPr anchor="ctr"/>
                </a:tc>
                <a:extLst>
                  <a:ext uri="{0D108BD9-81ED-4DB2-BD59-A6C34878D82A}">
                    <a16:rowId xmlns:a16="http://schemas.microsoft.com/office/drawing/2014/main" val="3644085774"/>
                  </a:ext>
                </a:extLst>
              </a:tr>
            </a:tbl>
          </a:graphicData>
        </a:graphic>
      </p:graphicFrame>
    </p:spTree>
    <p:extLst>
      <p:ext uri="{BB962C8B-B14F-4D97-AF65-F5344CB8AC3E}">
        <p14:creationId xmlns:p14="http://schemas.microsoft.com/office/powerpoint/2010/main" val="203468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5261EC8-F591-14F3-6ED2-3E36D1ABC8CE}"/>
              </a:ext>
            </a:extLst>
          </p:cNvPr>
          <p:cNvSpPr>
            <a:spLocks noGrp="1"/>
          </p:cNvSpPr>
          <p:nvPr>
            <p:ph type="body" sz="quarter" idx="13"/>
          </p:nvPr>
        </p:nvSpPr>
        <p:spPr/>
        <p:txBody>
          <a:bodyPr/>
          <a:lstStyle/>
          <a:p>
            <a:r>
              <a:rPr lang="en-IN" sz="2400" b="0" dirty="0">
                <a:solidFill>
                  <a:schemeClr val="tx1">
                    <a:lumMod val="95000"/>
                    <a:lumOff val="5000"/>
                  </a:schemeClr>
                </a:solidFill>
              </a:rPr>
              <a:t>Claim Management</a:t>
            </a:r>
          </a:p>
          <a:p>
            <a:pPr lvl="0"/>
            <a:r>
              <a:rPr lang="en-IN" sz="2400" b="0" dirty="0">
                <a:solidFill>
                  <a:schemeClr val="tx1">
                    <a:lumMod val="95000"/>
                    <a:lumOff val="5000"/>
                  </a:schemeClr>
                </a:solidFill>
              </a:rPr>
              <a:t>New claim submission. </a:t>
            </a:r>
          </a:p>
          <a:p>
            <a:pPr lvl="0"/>
            <a:r>
              <a:rPr lang="en-IN" sz="2400" b="0" dirty="0">
                <a:solidFill>
                  <a:schemeClr val="tx1">
                    <a:lumMod val="95000"/>
                    <a:lumOff val="5000"/>
                  </a:schemeClr>
                </a:solidFill>
              </a:rPr>
              <a:t>Claim ID generation. </a:t>
            </a:r>
          </a:p>
          <a:p>
            <a:pPr lvl="0"/>
            <a:r>
              <a:rPr lang="en-IN" sz="2400" b="0" dirty="0">
                <a:solidFill>
                  <a:schemeClr val="tx1">
                    <a:lumMod val="95000"/>
                    <a:lumOff val="5000"/>
                  </a:schemeClr>
                </a:solidFill>
              </a:rPr>
              <a:t>Claim status tracking. </a:t>
            </a:r>
          </a:p>
          <a:p>
            <a:r>
              <a:rPr lang="en-IN" sz="2400" b="0" dirty="0">
                <a:solidFill>
                  <a:schemeClr val="tx1">
                    <a:lumMod val="95000"/>
                    <a:lumOff val="5000"/>
                  </a:schemeClr>
                </a:solidFill>
              </a:rPr>
              <a:t>Document Management</a:t>
            </a:r>
          </a:p>
          <a:p>
            <a:pPr lvl="0"/>
            <a:r>
              <a:rPr lang="en-IN" sz="2400" b="0" dirty="0">
                <a:solidFill>
                  <a:schemeClr val="tx1">
                    <a:lumMod val="95000"/>
                    <a:lumOff val="5000"/>
                  </a:schemeClr>
                </a:solidFill>
              </a:rPr>
              <a:t>Upload and verify medical documents. </a:t>
            </a:r>
          </a:p>
          <a:p>
            <a:pPr lvl="0"/>
            <a:r>
              <a:rPr lang="en-IN" sz="2400" b="0" dirty="0">
                <a:solidFill>
                  <a:schemeClr val="tx1">
                    <a:lumMod val="95000"/>
                    <a:lumOff val="5000"/>
                  </a:schemeClr>
                </a:solidFill>
              </a:rPr>
              <a:t>Process bills, reports and supporting records. </a:t>
            </a:r>
          </a:p>
          <a:p>
            <a:r>
              <a:rPr lang="en-IN" sz="2400" b="0" dirty="0">
                <a:solidFill>
                  <a:schemeClr val="tx1">
                    <a:lumMod val="95000"/>
                    <a:lumOff val="5000"/>
                  </a:schemeClr>
                </a:solidFill>
              </a:rPr>
              <a:t>AI Analysis</a:t>
            </a:r>
          </a:p>
          <a:p>
            <a:pPr lvl="0"/>
            <a:r>
              <a:rPr lang="en-IN" sz="2400" b="0" dirty="0">
                <a:solidFill>
                  <a:schemeClr val="tx1">
                    <a:lumMod val="95000"/>
                    <a:lumOff val="5000"/>
                  </a:schemeClr>
                </a:solidFill>
              </a:rPr>
              <a:t>Eligibility assessment. </a:t>
            </a:r>
          </a:p>
          <a:p>
            <a:pPr lvl="0"/>
            <a:r>
              <a:rPr lang="en-IN" sz="2400" b="0" dirty="0">
                <a:solidFill>
                  <a:schemeClr val="tx1">
                    <a:lumMod val="95000"/>
                    <a:lumOff val="5000"/>
                  </a:schemeClr>
                </a:solidFill>
              </a:rPr>
              <a:t>Fraud-risk analysis. </a:t>
            </a:r>
          </a:p>
          <a:p>
            <a:pPr lvl="0"/>
            <a:r>
              <a:rPr lang="en-IN" sz="2400" b="0" dirty="0">
                <a:solidFill>
                  <a:schemeClr val="tx1">
                    <a:lumMod val="95000"/>
                    <a:lumOff val="5000"/>
                  </a:schemeClr>
                </a:solidFill>
              </a:rPr>
              <a:t>Claim information analysis.</a:t>
            </a:r>
          </a:p>
          <a:p>
            <a:endParaRPr lang="en-IN" dirty="0"/>
          </a:p>
        </p:txBody>
      </p:sp>
      <p:sp>
        <p:nvSpPr>
          <p:cNvPr id="3" name="Text Placeholder 2">
            <a:extLst>
              <a:ext uri="{FF2B5EF4-FFF2-40B4-BE49-F238E27FC236}">
                <a16:creationId xmlns:a16="http://schemas.microsoft.com/office/drawing/2014/main" id="{810B2140-9293-3D89-AD06-BB37B1E6DA65}"/>
              </a:ext>
            </a:extLst>
          </p:cNvPr>
          <p:cNvSpPr>
            <a:spLocks noGrp="1"/>
          </p:cNvSpPr>
          <p:nvPr>
            <p:ph type="body" sz="quarter" idx="15"/>
          </p:nvPr>
        </p:nvSpPr>
        <p:spPr/>
        <p:txBody>
          <a:bodyPr/>
          <a:lstStyle/>
          <a:p>
            <a:pPr marL="0" indent="0">
              <a:buNone/>
            </a:pPr>
            <a:r>
              <a:rPr lang="en-IN" sz="3600" dirty="0">
                <a:solidFill>
                  <a:schemeClr val="accent1">
                    <a:lumMod val="50000"/>
                  </a:schemeClr>
                </a:solidFill>
              </a:rPr>
              <a:t>Scope</a:t>
            </a:r>
          </a:p>
        </p:txBody>
      </p:sp>
    </p:spTree>
    <p:extLst>
      <p:ext uri="{BB962C8B-B14F-4D97-AF65-F5344CB8AC3E}">
        <p14:creationId xmlns:p14="http://schemas.microsoft.com/office/powerpoint/2010/main" val="25552442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F88864-2E71-2992-AD53-E8948837272B}"/>
              </a:ext>
            </a:extLst>
          </p:cNvPr>
          <p:cNvSpPr>
            <a:spLocks noGrp="1"/>
          </p:cNvSpPr>
          <p:nvPr>
            <p:ph type="body" sz="quarter" idx="13"/>
          </p:nvPr>
        </p:nvSpPr>
        <p:spPr>
          <a:xfrm>
            <a:off x="438876" y="1594385"/>
            <a:ext cx="10624338" cy="4482763"/>
          </a:xfrm>
        </p:spPr>
        <p:txBody>
          <a:bodyPr/>
          <a:lstStyle/>
          <a:p>
            <a:r>
              <a:rPr lang="en-IN" sz="2400" b="0" dirty="0">
                <a:solidFill>
                  <a:schemeClr val="tx1">
                    <a:lumMod val="95000"/>
                    <a:lumOff val="5000"/>
                  </a:schemeClr>
                </a:solidFill>
              </a:rPr>
              <a:t>Traditional learning systems often provide generic study materials and basic performance reports without adapting to the individual learner. Students may know their marks but may not know which concepts they are weak in or what they should study next. General AI assistants can explain concepts, but they may not use the learner’s academic performance or trusted study materials as context.</a:t>
            </a:r>
          </a:p>
          <a:p>
            <a:r>
              <a:rPr lang="en-IN" sz="2400" b="0" dirty="0">
                <a:solidFill>
                  <a:schemeClr val="tx1">
                    <a:lumMod val="95000"/>
                    <a:lumOff val="5000"/>
                  </a:schemeClr>
                </a:solidFill>
              </a:rPr>
              <a:t>Therefore, there is a need for an integrated system that combines performance analysis, knowledge retrieval, personalized AI assistance, and exam preparation in one platform.</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lvl="0">
              <a:defRPr/>
            </a:pPr>
            <a:r>
              <a:rPr lang="en-IN" sz="3600" b="1" dirty="0">
                <a:solidFill>
                  <a:schemeClr val="accent1">
                    <a:lumMod val="50000"/>
                  </a:schemeClr>
                </a:solidFill>
              </a:rPr>
              <a:t>Problem Statement</a:t>
            </a:r>
            <a:endParaRPr kumimoji="0" lang="en-US" sz="3600" b="1"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7B675-E694-7663-D55C-2461C40B8B8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E433592-8155-CD6F-B5E3-78AB52F31DE6}"/>
              </a:ext>
            </a:extLst>
          </p:cNvPr>
          <p:cNvSpPr>
            <a:spLocks noGrp="1"/>
          </p:cNvSpPr>
          <p:nvPr>
            <p:ph type="body" sz="quarter" idx="13"/>
          </p:nvPr>
        </p:nvSpPr>
        <p:spPr>
          <a:xfrm>
            <a:off x="1311666" y="1148876"/>
            <a:ext cx="10659060" cy="4395022"/>
          </a:xfrm>
        </p:spPr>
        <p:txBody>
          <a:bodyPr/>
          <a:lstStyle/>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3D243BDD-B44E-04F0-FA93-336DD2FFA770}"/>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Approach/Algorithms/Tools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4963133-FFA1-7CF4-9FAD-E6A120EF4238}"/>
              </a:ext>
            </a:extLst>
          </p:cNvPr>
          <p:cNvCxnSpPr>
            <a:cxnSpLocks/>
          </p:cNvCxnSpPr>
          <p:nvPr/>
        </p:nvCxnSpPr>
        <p:spPr>
          <a:xfrm>
            <a:off x="255996" y="114887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6" name="Table 5">
            <a:extLst>
              <a:ext uri="{FF2B5EF4-FFF2-40B4-BE49-F238E27FC236}">
                <a16:creationId xmlns:a16="http://schemas.microsoft.com/office/drawing/2014/main" id="{1CE3D2E9-C82B-7C03-4738-C73365ED6D46}"/>
              </a:ext>
            </a:extLst>
          </p:cNvPr>
          <p:cNvGraphicFramePr>
            <a:graphicFrameLocks noGrp="1"/>
          </p:cNvGraphicFramePr>
          <p:nvPr>
            <p:extLst>
              <p:ext uri="{D42A27DB-BD31-4B8C-83A1-F6EECF244321}">
                <p14:modId xmlns:p14="http://schemas.microsoft.com/office/powerpoint/2010/main" val="1516656244"/>
              </p:ext>
            </p:extLst>
          </p:nvPr>
        </p:nvGraphicFramePr>
        <p:xfrm>
          <a:off x="591618" y="1349698"/>
          <a:ext cx="11004549" cy="4840528"/>
        </p:xfrm>
        <a:graphic>
          <a:graphicData uri="http://schemas.openxmlformats.org/drawingml/2006/table">
            <a:tbl>
              <a:tblPr>
                <a:tableStyleId>{5C22544A-7EE6-4342-B048-85BDC9FD1C3A}</a:tableStyleId>
              </a:tblPr>
              <a:tblGrid>
                <a:gridCol w="3668183">
                  <a:extLst>
                    <a:ext uri="{9D8B030D-6E8A-4147-A177-3AD203B41FA5}">
                      <a16:colId xmlns:a16="http://schemas.microsoft.com/office/drawing/2014/main" val="1589822218"/>
                    </a:ext>
                  </a:extLst>
                </a:gridCol>
                <a:gridCol w="3668183">
                  <a:extLst>
                    <a:ext uri="{9D8B030D-6E8A-4147-A177-3AD203B41FA5}">
                      <a16:colId xmlns:a16="http://schemas.microsoft.com/office/drawing/2014/main" val="107212675"/>
                    </a:ext>
                  </a:extLst>
                </a:gridCol>
                <a:gridCol w="3668183">
                  <a:extLst>
                    <a:ext uri="{9D8B030D-6E8A-4147-A177-3AD203B41FA5}">
                      <a16:colId xmlns:a16="http://schemas.microsoft.com/office/drawing/2014/main" val="2892029033"/>
                    </a:ext>
                  </a:extLst>
                </a:gridCol>
              </a:tblGrid>
              <a:tr h="440048">
                <a:tc>
                  <a:txBody>
                    <a:bodyPr/>
                    <a:lstStyle/>
                    <a:p>
                      <a:pPr>
                        <a:buNone/>
                      </a:pPr>
                      <a:r>
                        <a:rPr lang="en-IN"/>
                        <a:t>Approach</a:t>
                      </a:r>
                    </a:p>
                  </a:txBody>
                  <a:tcPr anchor="ctr"/>
                </a:tc>
                <a:tc>
                  <a:txBody>
                    <a:bodyPr/>
                    <a:lstStyle/>
                    <a:p>
                      <a:pPr>
                        <a:buNone/>
                      </a:pPr>
                      <a:r>
                        <a:rPr lang="en-IN"/>
                        <a:t>Algorithms / Techniques</a:t>
                      </a:r>
                    </a:p>
                  </a:txBody>
                  <a:tcPr anchor="ctr"/>
                </a:tc>
                <a:tc>
                  <a:txBody>
                    <a:bodyPr/>
                    <a:lstStyle/>
                    <a:p>
                      <a:pPr>
                        <a:buNone/>
                      </a:pPr>
                      <a:r>
                        <a:rPr lang="en-IN"/>
                        <a:t>Tools</a:t>
                      </a:r>
                    </a:p>
                  </a:txBody>
                  <a:tcPr anchor="ctr"/>
                </a:tc>
                <a:extLst>
                  <a:ext uri="{0D108BD9-81ED-4DB2-BD59-A6C34878D82A}">
                    <a16:rowId xmlns:a16="http://schemas.microsoft.com/office/drawing/2014/main" val="4256259015"/>
                  </a:ext>
                </a:extLst>
              </a:tr>
              <a:tr h="440048">
                <a:tc>
                  <a:txBody>
                    <a:bodyPr/>
                    <a:lstStyle/>
                    <a:p>
                      <a:pPr>
                        <a:buNone/>
                      </a:pPr>
                      <a:r>
                        <a:rPr lang="en-IN"/>
                        <a:t>Data Preprocessing</a:t>
                      </a:r>
                    </a:p>
                  </a:txBody>
                  <a:tcPr anchor="ctr"/>
                </a:tc>
                <a:tc>
                  <a:txBody>
                    <a:bodyPr/>
                    <a:lstStyle/>
                    <a:p>
                      <a:pPr>
                        <a:buNone/>
                      </a:pPr>
                      <a:r>
                        <a:rPr lang="en-IN"/>
                        <a:t>Cleaning &amp; Normalization</a:t>
                      </a:r>
                    </a:p>
                  </a:txBody>
                  <a:tcPr anchor="ctr"/>
                </a:tc>
                <a:tc>
                  <a:txBody>
                    <a:bodyPr/>
                    <a:lstStyle/>
                    <a:p>
                      <a:pPr>
                        <a:buNone/>
                      </a:pPr>
                      <a:r>
                        <a:rPr lang="en-IN"/>
                        <a:t>Python, Pandas, NumPy</a:t>
                      </a:r>
                    </a:p>
                  </a:txBody>
                  <a:tcPr anchor="ctr"/>
                </a:tc>
                <a:extLst>
                  <a:ext uri="{0D108BD9-81ED-4DB2-BD59-A6C34878D82A}">
                    <a16:rowId xmlns:a16="http://schemas.microsoft.com/office/drawing/2014/main" val="562588815"/>
                  </a:ext>
                </a:extLst>
              </a:tr>
              <a:tr h="440048">
                <a:tc>
                  <a:txBody>
                    <a:bodyPr/>
                    <a:lstStyle/>
                    <a:p>
                      <a:pPr>
                        <a:buNone/>
                      </a:pPr>
                      <a:r>
                        <a:rPr lang="en-IN"/>
                        <a:t>EDA</a:t>
                      </a:r>
                    </a:p>
                  </a:txBody>
                  <a:tcPr anchor="ctr"/>
                </a:tc>
                <a:tc>
                  <a:txBody>
                    <a:bodyPr/>
                    <a:lstStyle/>
                    <a:p>
                      <a:pPr>
                        <a:buNone/>
                      </a:pPr>
                      <a:r>
                        <a:rPr lang="en-IN"/>
                        <a:t>Statistical Analysis</a:t>
                      </a:r>
                    </a:p>
                  </a:txBody>
                  <a:tcPr anchor="ctr"/>
                </a:tc>
                <a:tc>
                  <a:txBody>
                    <a:bodyPr/>
                    <a:lstStyle/>
                    <a:p>
                      <a:pPr>
                        <a:buNone/>
                      </a:pPr>
                      <a:r>
                        <a:rPr lang="en-IN"/>
                        <a:t>Matplotlib</a:t>
                      </a:r>
                    </a:p>
                  </a:txBody>
                  <a:tcPr anchor="ctr"/>
                </a:tc>
                <a:extLst>
                  <a:ext uri="{0D108BD9-81ED-4DB2-BD59-A6C34878D82A}">
                    <a16:rowId xmlns:a16="http://schemas.microsoft.com/office/drawing/2014/main" val="396889288"/>
                  </a:ext>
                </a:extLst>
              </a:tr>
              <a:tr h="440048">
                <a:tc>
                  <a:txBody>
                    <a:bodyPr/>
                    <a:lstStyle/>
                    <a:p>
                      <a:pPr>
                        <a:buNone/>
                      </a:pPr>
                      <a:r>
                        <a:rPr lang="en-IN"/>
                        <a:t>Performance Analysis</a:t>
                      </a:r>
                    </a:p>
                  </a:txBody>
                  <a:tcPr anchor="ctr"/>
                </a:tc>
                <a:tc>
                  <a:txBody>
                    <a:bodyPr/>
                    <a:lstStyle/>
                    <a:p>
                      <a:pPr>
                        <a:buNone/>
                      </a:pPr>
                      <a:r>
                        <a:rPr lang="en-IN"/>
                        <a:t>Score &amp; Accuracy Analysis</a:t>
                      </a:r>
                    </a:p>
                  </a:txBody>
                  <a:tcPr anchor="ctr"/>
                </a:tc>
                <a:tc>
                  <a:txBody>
                    <a:bodyPr/>
                    <a:lstStyle/>
                    <a:p>
                      <a:pPr>
                        <a:buNone/>
                      </a:pPr>
                      <a:r>
                        <a:rPr lang="en-IN"/>
                        <a:t>Python</a:t>
                      </a:r>
                    </a:p>
                  </a:txBody>
                  <a:tcPr anchor="ctr"/>
                </a:tc>
                <a:extLst>
                  <a:ext uri="{0D108BD9-81ED-4DB2-BD59-A6C34878D82A}">
                    <a16:rowId xmlns:a16="http://schemas.microsoft.com/office/drawing/2014/main" val="1584691563"/>
                  </a:ext>
                </a:extLst>
              </a:tr>
              <a:tr h="440048">
                <a:tc>
                  <a:txBody>
                    <a:bodyPr/>
                    <a:lstStyle/>
                    <a:p>
                      <a:pPr>
                        <a:buNone/>
                      </a:pPr>
                      <a:r>
                        <a:rPr lang="en-IN"/>
                        <a:t>Weak Topic Detection</a:t>
                      </a:r>
                    </a:p>
                  </a:txBody>
                  <a:tcPr anchor="ctr"/>
                </a:tc>
                <a:tc>
                  <a:txBody>
                    <a:bodyPr/>
                    <a:lstStyle/>
                    <a:p>
                      <a:pPr>
                        <a:buNone/>
                      </a:pPr>
                      <a:r>
                        <a:rPr lang="en-IN"/>
                        <a:t>Topic-wise Analysis</a:t>
                      </a:r>
                    </a:p>
                  </a:txBody>
                  <a:tcPr anchor="ctr"/>
                </a:tc>
                <a:tc>
                  <a:txBody>
                    <a:bodyPr/>
                    <a:lstStyle/>
                    <a:p>
                      <a:pPr>
                        <a:buNone/>
                      </a:pPr>
                      <a:r>
                        <a:rPr lang="en-IN"/>
                        <a:t>Pandas</a:t>
                      </a:r>
                    </a:p>
                  </a:txBody>
                  <a:tcPr anchor="ctr"/>
                </a:tc>
                <a:extLst>
                  <a:ext uri="{0D108BD9-81ED-4DB2-BD59-A6C34878D82A}">
                    <a16:rowId xmlns:a16="http://schemas.microsoft.com/office/drawing/2014/main" val="1598926487"/>
                  </a:ext>
                </a:extLst>
              </a:tr>
              <a:tr h="440048">
                <a:tc>
                  <a:txBody>
                    <a:bodyPr/>
                    <a:lstStyle/>
                    <a:p>
                      <a:pPr>
                        <a:buNone/>
                      </a:pPr>
                      <a:r>
                        <a:rPr lang="en-IN"/>
                        <a:t>Document Processing</a:t>
                      </a:r>
                    </a:p>
                  </a:txBody>
                  <a:tcPr anchor="ctr"/>
                </a:tc>
                <a:tc>
                  <a:txBody>
                    <a:bodyPr/>
                    <a:lstStyle/>
                    <a:p>
                      <a:pPr>
                        <a:buNone/>
                      </a:pPr>
                      <a:r>
                        <a:rPr lang="en-IN"/>
                        <a:t>Text Extraction &amp; Chunking</a:t>
                      </a:r>
                    </a:p>
                  </a:txBody>
                  <a:tcPr anchor="ctr"/>
                </a:tc>
                <a:tc>
                  <a:txBody>
                    <a:bodyPr/>
                    <a:lstStyle/>
                    <a:p>
                      <a:pPr>
                        <a:buNone/>
                      </a:pPr>
                      <a:r>
                        <a:rPr lang="en-IN"/>
                        <a:t>PDF/DOCX Processing</a:t>
                      </a:r>
                    </a:p>
                  </a:txBody>
                  <a:tcPr anchor="ctr"/>
                </a:tc>
                <a:extLst>
                  <a:ext uri="{0D108BD9-81ED-4DB2-BD59-A6C34878D82A}">
                    <a16:rowId xmlns:a16="http://schemas.microsoft.com/office/drawing/2014/main" val="1238721381"/>
                  </a:ext>
                </a:extLst>
              </a:tr>
              <a:tr h="440048">
                <a:tc>
                  <a:txBody>
                    <a:bodyPr/>
                    <a:lstStyle/>
                    <a:p>
                      <a:pPr>
                        <a:buNone/>
                      </a:pPr>
                      <a:r>
                        <a:rPr lang="en-IN"/>
                        <a:t>Semantic Retrieval</a:t>
                      </a:r>
                    </a:p>
                  </a:txBody>
                  <a:tcPr anchor="ctr"/>
                </a:tc>
                <a:tc>
                  <a:txBody>
                    <a:bodyPr/>
                    <a:lstStyle/>
                    <a:p>
                      <a:pPr>
                        <a:buNone/>
                      </a:pPr>
                      <a:r>
                        <a:rPr lang="en-IN"/>
                        <a:t>Embeddings &amp; Similarity Search</a:t>
                      </a:r>
                    </a:p>
                  </a:txBody>
                  <a:tcPr anchor="ctr"/>
                </a:tc>
                <a:tc>
                  <a:txBody>
                    <a:bodyPr/>
                    <a:lstStyle/>
                    <a:p>
                      <a:pPr>
                        <a:buNone/>
                      </a:pPr>
                      <a:r>
                        <a:rPr lang="en-IN"/>
                        <a:t>Vector Store</a:t>
                      </a:r>
                    </a:p>
                  </a:txBody>
                  <a:tcPr anchor="ctr"/>
                </a:tc>
                <a:extLst>
                  <a:ext uri="{0D108BD9-81ED-4DB2-BD59-A6C34878D82A}">
                    <a16:rowId xmlns:a16="http://schemas.microsoft.com/office/drawing/2014/main" val="2667589557"/>
                  </a:ext>
                </a:extLst>
              </a:tr>
              <a:tr h="440048">
                <a:tc>
                  <a:txBody>
                    <a:bodyPr/>
                    <a:lstStyle/>
                    <a:p>
                      <a:pPr>
                        <a:buNone/>
                      </a:pPr>
                      <a:r>
                        <a:rPr lang="en-IN"/>
                        <a:t>Knowledge Retrieval</a:t>
                      </a:r>
                    </a:p>
                  </a:txBody>
                  <a:tcPr anchor="ctr"/>
                </a:tc>
                <a:tc>
                  <a:txBody>
                    <a:bodyPr/>
                    <a:lstStyle/>
                    <a:p>
                      <a:pPr>
                        <a:buNone/>
                      </a:pPr>
                      <a:r>
                        <a:rPr lang="en-IN"/>
                        <a:t>RAG</a:t>
                      </a:r>
                    </a:p>
                  </a:txBody>
                  <a:tcPr anchor="ctr"/>
                </a:tc>
                <a:tc>
                  <a:txBody>
                    <a:bodyPr/>
                    <a:lstStyle/>
                    <a:p>
                      <a:pPr>
                        <a:buNone/>
                      </a:pPr>
                      <a:r>
                        <a:rPr lang="en-IN"/>
                        <a:t>Python</a:t>
                      </a:r>
                    </a:p>
                  </a:txBody>
                  <a:tcPr anchor="ctr"/>
                </a:tc>
                <a:extLst>
                  <a:ext uri="{0D108BD9-81ED-4DB2-BD59-A6C34878D82A}">
                    <a16:rowId xmlns:a16="http://schemas.microsoft.com/office/drawing/2014/main" val="414804760"/>
                  </a:ext>
                </a:extLst>
              </a:tr>
              <a:tr h="440048">
                <a:tc>
                  <a:txBody>
                    <a:bodyPr/>
                    <a:lstStyle/>
                    <a:p>
                      <a:pPr>
                        <a:buNone/>
                      </a:pPr>
                      <a:r>
                        <a:rPr lang="en-IN"/>
                        <a:t>AI Generation</a:t>
                      </a:r>
                    </a:p>
                  </a:txBody>
                  <a:tcPr anchor="ctr"/>
                </a:tc>
                <a:tc>
                  <a:txBody>
                    <a:bodyPr/>
                    <a:lstStyle/>
                    <a:p>
                      <a:pPr>
                        <a:buNone/>
                      </a:pPr>
                      <a:r>
                        <a:rPr lang="en-IN"/>
                        <a:t>Large Language Model</a:t>
                      </a:r>
                    </a:p>
                  </a:txBody>
                  <a:tcPr anchor="ctr"/>
                </a:tc>
                <a:tc>
                  <a:txBody>
                    <a:bodyPr/>
                    <a:lstStyle/>
                    <a:p>
                      <a:pPr>
                        <a:buNone/>
                      </a:pPr>
                      <a:r>
                        <a:rPr lang="en-IN"/>
                        <a:t>Groq API</a:t>
                      </a:r>
                    </a:p>
                  </a:txBody>
                  <a:tcPr anchor="ctr"/>
                </a:tc>
                <a:extLst>
                  <a:ext uri="{0D108BD9-81ED-4DB2-BD59-A6C34878D82A}">
                    <a16:rowId xmlns:a16="http://schemas.microsoft.com/office/drawing/2014/main" val="3262856543"/>
                  </a:ext>
                </a:extLst>
              </a:tr>
              <a:tr h="440048">
                <a:tc>
                  <a:txBody>
                    <a:bodyPr/>
                    <a:lstStyle/>
                    <a:p>
                      <a:pPr>
                        <a:buNone/>
                      </a:pPr>
                      <a:r>
                        <a:rPr lang="en-IN"/>
                        <a:t>Backend Development</a:t>
                      </a:r>
                    </a:p>
                  </a:txBody>
                  <a:tcPr anchor="ctr"/>
                </a:tc>
                <a:tc>
                  <a:txBody>
                    <a:bodyPr/>
                    <a:lstStyle/>
                    <a:p>
                      <a:pPr>
                        <a:buNone/>
                      </a:pPr>
                      <a:r>
                        <a:rPr lang="en-IN"/>
                        <a:t>REST API</a:t>
                      </a:r>
                    </a:p>
                  </a:txBody>
                  <a:tcPr anchor="ctr"/>
                </a:tc>
                <a:tc>
                  <a:txBody>
                    <a:bodyPr/>
                    <a:lstStyle/>
                    <a:p>
                      <a:pPr>
                        <a:buNone/>
                      </a:pPr>
                      <a:r>
                        <a:rPr lang="en-IN"/>
                        <a:t>FastAPI</a:t>
                      </a:r>
                    </a:p>
                  </a:txBody>
                  <a:tcPr anchor="ctr"/>
                </a:tc>
                <a:extLst>
                  <a:ext uri="{0D108BD9-81ED-4DB2-BD59-A6C34878D82A}">
                    <a16:rowId xmlns:a16="http://schemas.microsoft.com/office/drawing/2014/main" val="3355352254"/>
                  </a:ext>
                </a:extLst>
              </a:tr>
              <a:tr h="440048">
                <a:tc>
                  <a:txBody>
                    <a:bodyPr/>
                    <a:lstStyle/>
                    <a:p>
                      <a:pPr>
                        <a:buNone/>
                      </a:pPr>
                      <a:r>
                        <a:rPr lang="en-IN"/>
                        <a:t>Frontend Development</a:t>
                      </a:r>
                    </a:p>
                  </a:txBody>
                  <a:tcPr anchor="ctr"/>
                </a:tc>
                <a:tc>
                  <a:txBody>
                    <a:bodyPr/>
                    <a:lstStyle/>
                    <a:p>
                      <a:pPr>
                        <a:buNone/>
                      </a:pPr>
                      <a:r>
                        <a:rPr lang="en-IN"/>
                        <a:t>Component-Based UI</a:t>
                      </a:r>
                    </a:p>
                  </a:txBody>
                  <a:tcPr anchor="ctr"/>
                </a:tc>
                <a:tc>
                  <a:txBody>
                    <a:bodyPr/>
                    <a:lstStyle/>
                    <a:p>
                      <a:pPr>
                        <a:buNone/>
                      </a:pPr>
                      <a:r>
                        <a:rPr lang="en-IN" dirty="0"/>
                        <a:t>React.js</a:t>
                      </a:r>
                    </a:p>
                  </a:txBody>
                  <a:tcPr anchor="ctr"/>
                </a:tc>
                <a:extLst>
                  <a:ext uri="{0D108BD9-81ED-4DB2-BD59-A6C34878D82A}">
                    <a16:rowId xmlns:a16="http://schemas.microsoft.com/office/drawing/2014/main" val="318212956"/>
                  </a:ext>
                </a:extLst>
              </a:tr>
            </a:tbl>
          </a:graphicData>
        </a:graphic>
      </p:graphicFrame>
    </p:spTree>
    <p:extLst>
      <p:ext uri="{BB962C8B-B14F-4D97-AF65-F5344CB8AC3E}">
        <p14:creationId xmlns:p14="http://schemas.microsoft.com/office/powerpoint/2010/main" val="107944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9A058-E477-163A-1B3E-61A05B0F38B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A69BAD7-4402-029D-94EE-84728E7A1B97}"/>
              </a:ext>
            </a:extLst>
          </p:cNvPr>
          <p:cNvSpPr>
            <a:spLocks noGrp="1"/>
          </p:cNvSpPr>
          <p:nvPr>
            <p:ph type="body" sz="quarter" idx="13"/>
          </p:nvPr>
        </p:nvSpPr>
        <p:spPr>
          <a:xfrm>
            <a:off x="617381" y="1214670"/>
            <a:ext cx="10953024" cy="5343253"/>
          </a:xfrm>
        </p:spPr>
        <p:txBody>
          <a:bodyPr/>
          <a:lstStyle/>
          <a:p>
            <a:pPr lvl="0"/>
            <a:r>
              <a:rPr lang="en-IN" sz="2400" b="0" dirty="0">
                <a:solidFill>
                  <a:schemeClr val="tx1">
                    <a:lumMod val="95000"/>
                    <a:lumOff val="5000"/>
                  </a:schemeClr>
                </a:solidFill>
              </a:rPr>
              <a:t>Performance analysis successfully identifies strong and weak learning areas. </a:t>
            </a:r>
          </a:p>
          <a:p>
            <a:pPr lvl="0"/>
            <a:r>
              <a:rPr lang="en-IN" sz="2400" b="0" dirty="0">
                <a:solidFill>
                  <a:schemeClr val="tx1">
                    <a:lumMod val="95000"/>
                    <a:lumOff val="5000"/>
                  </a:schemeClr>
                </a:solidFill>
              </a:rPr>
              <a:t>Topic-wise analysis helps determine accuracy and learning gaps. </a:t>
            </a:r>
          </a:p>
          <a:p>
            <a:pPr lvl="0"/>
            <a:r>
              <a:rPr lang="en-IN" sz="2400" b="0" dirty="0">
                <a:solidFill>
                  <a:schemeClr val="tx1">
                    <a:lumMod val="95000"/>
                    <a:lumOff val="5000"/>
                  </a:schemeClr>
                </a:solidFill>
              </a:rPr>
              <a:t>The knowledge base provides relevant educational context for AI responses. </a:t>
            </a:r>
          </a:p>
          <a:p>
            <a:pPr lvl="0"/>
            <a:r>
              <a:rPr lang="en-IN" sz="2400" b="0" dirty="0">
                <a:solidFill>
                  <a:schemeClr val="tx1">
                    <a:lumMod val="95000"/>
                    <a:lumOff val="5000"/>
                  </a:schemeClr>
                </a:solidFill>
              </a:rPr>
              <a:t>RAG enables the assistant to generate responses based on retrieved learning content. </a:t>
            </a:r>
          </a:p>
          <a:p>
            <a:pPr lvl="0"/>
            <a:r>
              <a:rPr lang="en-IN" sz="2400" b="0" dirty="0">
                <a:solidFill>
                  <a:schemeClr val="tx1">
                    <a:lumMod val="95000"/>
                    <a:lumOff val="5000"/>
                  </a:schemeClr>
                </a:solidFill>
              </a:rPr>
              <a:t>The AI assistant can provide concept explanations, examples, key points, and exam-oriented questions. </a:t>
            </a:r>
          </a:p>
          <a:p>
            <a:pPr lvl="0"/>
            <a:r>
              <a:rPr lang="en-IN" sz="2400" b="0" dirty="0">
                <a:solidFill>
                  <a:schemeClr val="tx1">
                    <a:lumMod val="95000"/>
                    <a:lumOff val="5000"/>
                  </a:schemeClr>
                </a:solidFill>
              </a:rPr>
              <a:t>Combining performance data with AI assistance provides more personalized learning support.</a:t>
            </a:r>
          </a:p>
          <a:p>
            <a:pPr marL="0" indent="0">
              <a:lnSpc>
                <a:spcPct val="150000"/>
              </a:lnSpc>
              <a:buNone/>
            </a:pPr>
            <a:endParaRPr lang="en-US" sz="2400" b="0" dirty="0">
              <a:solidFill>
                <a:schemeClr val="tx1">
                  <a:lumMod val="95000"/>
                  <a:lumOff val="5000"/>
                </a:schemeClr>
              </a:solidFill>
            </a:endParaRPr>
          </a:p>
        </p:txBody>
      </p:sp>
      <p:sp>
        <p:nvSpPr>
          <p:cNvPr id="3" name="TextBox 2">
            <a:extLst>
              <a:ext uri="{FF2B5EF4-FFF2-40B4-BE49-F238E27FC236}">
                <a16:creationId xmlns:a16="http://schemas.microsoft.com/office/drawing/2014/main" id="{E8F67352-6E77-1E87-24B7-ED7906E0679C}"/>
              </a:ext>
            </a:extLst>
          </p:cNvPr>
          <p:cNvSpPr txBox="1"/>
          <p:nvPr/>
        </p:nvSpPr>
        <p:spPr>
          <a:xfrm>
            <a:off x="221274" y="300077"/>
            <a:ext cx="10624338" cy="646331"/>
          </a:xfrm>
          <a:prstGeom prst="rect">
            <a:avLst/>
          </a:prstGeom>
          <a:noFill/>
        </p:spPr>
        <p:txBody>
          <a:bodyPr wrap="square" rtlCol="0">
            <a:spAutoFit/>
          </a:bodyPr>
          <a:lstStyle/>
          <a:p>
            <a:pPr lvl="0">
              <a:defRPr/>
            </a:pPr>
            <a:r>
              <a:rPr lang="en-IN" sz="3600" b="1" dirty="0">
                <a:solidFill>
                  <a:schemeClr val="accent1">
                    <a:lumMod val="50000"/>
                  </a:schemeClr>
                </a:solidFill>
              </a:rPr>
              <a:t>Findings &amp; Results</a:t>
            </a:r>
            <a:endParaRPr kumimoji="0" lang="en-US" sz="3600" b="1"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564F4198-C244-16A7-B796-A2E4B5EA6A81}"/>
              </a:ext>
            </a:extLst>
          </p:cNvPr>
          <p:cNvCxnSpPr>
            <a:cxnSpLocks/>
          </p:cNvCxnSpPr>
          <p:nvPr/>
        </p:nvCxnSpPr>
        <p:spPr>
          <a:xfrm>
            <a:off x="221274" y="995164"/>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1109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34E8078-2705-A6F9-401E-49E133D6D46F}"/>
              </a:ext>
            </a:extLst>
          </p:cNvPr>
          <p:cNvSpPr>
            <a:spLocks noGrp="1"/>
          </p:cNvSpPr>
          <p:nvPr>
            <p:ph type="body" sz="quarter" idx="13"/>
          </p:nvPr>
        </p:nvSpPr>
        <p:spPr/>
        <p:txBody>
          <a:bodyPr/>
          <a:lstStyle/>
          <a:p>
            <a:endParaRPr lang="en-IN" dirty="0"/>
          </a:p>
        </p:txBody>
      </p:sp>
      <p:sp>
        <p:nvSpPr>
          <p:cNvPr id="3" name="Text Placeholder 2">
            <a:extLst>
              <a:ext uri="{FF2B5EF4-FFF2-40B4-BE49-F238E27FC236}">
                <a16:creationId xmlns:a16="http://schemas.microsoft.com/office/drawing/2014/main" id="{E82EDF5C-0050-0A88-CBD3-1B58D703F91F}"/>
              </a:ext>
            </a:extLst>
          </p:cNvPr>
          <p:cNvSpPr>
            <a:spLocks noGrp="1"/>
          </p:cNvSpPr>
          <p:nvPr>
            <p:ph type="body" sz="quarter" idx="15"/>
          </p:nvPr>
        </p:nvSpPr>
        <p:spPr/>
        <p:txBody>
          <a:bodyPr/>
          <a:lstStyle/>
          <a:p>
            <a:pPr marL="0" indent="0">
              <a:buNone/>
            </a:pPr>
            <a:r>
              <a:rPr lang="en-IN" sz="3600" dirty="0">
                <a:solidFill>
                  <a:schemeClr val="accent1">
                    <a:lumMod val="50000"/>
                  </a:schemeClr>
                </a:solidFill>
              </a:rPr>
              <a:t>OUTCOME</a:t>
            </a:r>
          </a:p>
        </p:txBody>
      </p:sp>
      <p:pic>
        <p:nvPicPr>
          <p:cNvPr id="5" name="Picture 4">
            <a:extLst>
              <a:ext uri="{FF2B5EF4-FFF2-40B4-BE49-F238E27FC236}">
                <a16:creationId xmlns:a16="http://schemas.microsoft.com/office/drawing/2014/main" id="{7373543C-E30D-D718-C910-8C07FDA204C8}"/>
              </a:ext>
            </a:extLst>
          </p:cNvPr>
          <p:cNvPicPr>
            <a:picLocks noChangeAspect="1"/>
          </p:cNvPicPr>
          <p:nvPr/>
        </p:nvPicPr>
        <p:blipFill>
          <a:blip r:embed="rId2"/>
          <a:stretch>
            <a:fillRect/>
          </a:stretch>
        </p:blipFill>
        <p:spPr>
          <a:xfrm>
            <a:off x="255996" y="1271218"/>
            <a:ext cx="11936004" cy="5039021"/>
          </a:xfrm>
          <a:prstGeom prst="rect">
            <a:avLst/>
          </a:prstGeom>
        </p:spPr>
      </p:pic>
    </p:spTree>
    <p:extLst>
      <p:ext uri="{BB962C8B-B14F-4D97-AF65-F5344CB8AC3E}">
        <p14:creationId xmlns:p14="http://schemas.microsoft.com/office/powerpoint/2010/main" val="17605534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4D00CF2-54A4-6A55-ACDB-A23DAE2C9139}"/>
              </a:ext>
            </a:extLst>
          </p:cNvPr>
          <p:cNvSpPr>
            <a:spLocks noGrp="1"/>
          </p:cNvSpPr>
          <p:nvPr>
            <p:ph type="body" sz="quarter" idx="13"/>
          </p:nvPr>
        </p:nvSpPr>
        <p:spPr/>
        <p:txBody>
          <a:bodyPr/>
          <a:lstStyle/>
          <a:p>
            <a:endParaRPr lang="en-IN" dirty="0"/>
          </a:p>
        </p:txBody>
      </p:sp>
      <p:sp>
        <p:nvSpPr>
          <p:cNvPr id="3" name="Text Placeholder 2">
            <a:extLst>
              <a:ext uri="{FF2B5EF4-FFF2-40B4-BE49-F238E27FC236}">
                <a16:creationId xmlns:a16="http://schemas.microsoft.com/office/drawing/2014/main" id="{CA79AFB1-31E8-CEA8-071E-4AC97C80D30D}"/>
              </a:ext>
            </a:extLst>
          </p:cNvPr>
          <p:cNvSpPr>
            <a:spLocks noGrp="1"/>
          </p:cNvSpPr>
          <p:nvPr>
            <p:ph type="body" sz="quarter" idx="15"/>
          </p:nvPr>
        </p:nvSpPr>
        <p:spPr/>
        <p:txBody>
          <a:bodyPr/>
          <a:lstStyle/>
          <a:p>
            <a:endParaRPr lang="en-IN"/>
          </a:p>
        </p:txBody>
      </p:sp>
      <p:pic>
        <p:nvPicPr>
          <p:cNvPr id="5" name="Picture 4">
            <a:extLst>
              <a:ext uri="{FF2B5EF4-FFF2-40B4-BE49-F238E27FC236}">
                <a16:creationId xmlns:a16="http://schemas.microsoft.com/office/drawing/2014/main" id="{BC0C6A9D-C116-C76C-3CF6-B6FE61669A46}"/>
              </a:ext>
            </a:extLst>
          </p:cNvPr>
          <p:cNvPicPr>
            <a:picLocks noChangeAspect="1"/>
          </p:cNvPicPr>
          <p:nvPr/>
        </p:nvPicPr>
        <p:blipFill>
          <a:blip r:embed="rId2"/>
          <a:stretch>
            <a:fillRect/>
          </a:stretch>
        </p:blipFill>
        <p:spPr>
          <a:xfrm>
            <a:off x="255996" y="623195"/>
            <a:ext cx="11936004" cy="5611610"/>
          </a:xfrm>
          <a:prstGeom prst="rect">
            <a:avLst/>
          </a:prstGeom>
        </p:spPr>
      </p:pic>
    </p:spTree>
    <p:extLst>
      <p:ext uri="{BB962C8B-B14F-4D97-AF65-F5344CB8AC3E}">
        <p14:creationId xmlns:p14="http://schemas.microsoft.com/office/powerpoint/2010/main" val="333807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4194176-972D-3051-B31E-C5412AD721B8}"/>
              </a:ext>
            </a:extLst>
          </p:cNvPr>
          <p:cNvSpPr>
            <a:spLocks noGrp="1"/>
          </p:cNvSpPr>
          <p:nvPr>
            <p:ph type="body" sz="quarter" idx="13"/>
          </p:nvPr>
        </p:nvSpPr>
        <p:spPr/>
        <p:txBody>
          <a:bodyPr/>
          <a:lstStyle/>
          <a:p>
            <a:endParaRPr lang="en-IN" dirty="0"/>
          </a:p>
        </p:txBody>
      </p:sp>
      <p:sp>
        <p:nvSpPr>
          <p:cNvPr id="3" name="Text Placeholder 2">
            <a:extLst>
              <a:ext uri="{FF2B5EF4-FFF2-40B4-BE49-F238E27FC236}">
                <a16:creationId xmlns:a16="http://schemas.microsoft.com/office/drawing/2014/main" id="{06777CD0-2AE1-5BA9-1D61-6E3714140312}"/>
              </a:ext>
            </a:extLst>
          </p:cNvPr>
          <p:cNvSpPr>
            <a:spLocks noGrp="1"/>
          </p:cNvSpPr>
          <p:nvPr>
            <p:ph type="body" sz="quarter" idx="15"/>
          </p:nvPr>
        </p:nvSpPr>
        <p:spPr/>
        <p:txBody>
          <a:bodyPr/>
          <a:lstStyle/>
          <a:p>
            <a:endParaRPr lang="en-IN"/>
          </a:p>
        </p:txBody>
      </p:sp>
      <p:pic>
        <p:nvPicPr>
          <p:cNvPr id="5" name="Picture 4">
            <a:extLst>
              <a:ext uri="{FF2B5EF4-FFF2-40B4-BE49-F238E27FC236}">
                <a16:creationId xmlns:a16="http://schemas.microsoft.com/office/drawing/2014/main" id="{289EF2A5-3EBD-DD97-C388-F2B0633D09F3}"/>
              </a:ext>
            </a:extLst>
          </p:cNvPr>
          <p:cNvPicPr>
            <a:picLocks noChangeAspect="1"/>
          </p:cNvPicPr>
          <p:nvPr/>
        </p:nvPicPr>
        <p:blipFill>
          <a:blip r:embed="rId2"/>
          <a:stretch>
            <a:fillRect/>
          </a:stretch>
        </p:blipFill>
        <p:spPr>
          <a:xfrm>
            <a:off x="255996" y="585117"/>
            <a:ext cx="11936004" cy="5687765"/>
          </a:xfrm>
          <a:prstGeom prst="rect">
            <a:avLst/>
          </a:prstGeom>
        </p:spPr>
      </p:pic>
    </p:spTree>
    <p:extLst>
      <p:ext uri="{BB962C8B-B14F-4D97-AF65-F5344CB8AC3E}">
        <p14:creationId xmlns:p14="http://schemas.microsoft.com/office/powerpoint/2010/main" val="394932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DFB0E81-00C2-899A-8C11-0175031814C3}"/>
              </a:ext>
            </a:extLst>
          </p:cNvPr>
          <p:cNvSpPr>
            <a:spLocks noGrp="1"/>
          </p:cNvSpPr>
          <p:nvPr>
            <p:ph type="body" sz="quarter" idx="13"/>
          </p:nvPr>
        </p:nvSpPr>
        <p:spPr/>
        <p:txBody>
          <a:bodyPr/>
          <a:lstStyle/>
          <a:p>
            <a:endParaRPr lang="en-IN" dirty="0"/>
          </a:p>
        </p:txBody>
      </p:sp>
      <p:sp>
        <p:nvSpPr>
          <p:cNvPr id="3" name="Text Placeholder 2">
            <a:extLst>
              <a:ext uri="{FF2B5EF4-FFF2-40B4-BE49-F238E27FC236}">
                <a16:creationId xmlns:a16="http://schemas.microsoft.com/office/drawing/2014/main" id="{935AB2A1-5F57-46D4-1D99-18221826CAF2}"/>
              </a:ext>
            </a:extLst>
          </p:cNvPr>
          <p:cNvSpPr>
            <a:spLocks noGrp="1"/>
          </p:cNvSpPr>
          <p:nvPr>
            <p:ph type="body" sz="quarter" idx="15"/>
          </p:nvPr>
        </p:nvSpPr>
        <p:spPr/>
        <p:txBody>
          <a:bodyPr/>
          <a:lstStyle/>
          <a:p>
            <a:endParaRPr lang="en-IN"/>
          </a:p>
        </p:txBody>
      </p:sp>
      <p:pic>
        <p:nvPicPr>
          <p:cNvPr id="5" name="Picture 4">
            <a:extLst>
              <a:ext uri="{FF2B5EF4-FFF2-40B4-BE49-F238E27FC236}">
                <a16:creationId xmlns:a16="http://schemas.microsoft.com/office/drawing/2014/main" id="{F949CF91-0242-6518-7A09-6804E705439C}"/>
              </a:ext>
            </a:extLst>
          </p:cNvPr>
          <p:cNvPicPr>
            <a:picLocks noChangeAspect="1"/>
          </p:cNvPicPr>
          <p:nvPr/>
        </p:nvPicPr>
        <p:blipFill>
          <a:blip r:embed="rId2"/>
          <a:stretch>
            <a:fillRect/>
          </a:stretch>
        </p:blipFill>
        <p:spPr>
          <a:xfrm>
            <a:off x="255996" y="587221"/>
            <a:ext cx="11936004" cy="5683557"/>
          </a:xfrm>
          <a:prstGeom prst="rect">
            <a:avLst/>
          </a:prstGeom>
        </p:spPr>
      </p:pic>
    </p:spTree>
    <p:extLst>
      <p:ext uri="{BB962C8B-B14F-4D97-AF65-F5344CB8AC3E}">
        <p14:creationId xmlns:p14="http://schemas.microsoft.com/office/powerpoint/2010/main" val="4096074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5BBC5-46B5-0DF4-A2AC-5289D295735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7872131-A6C0-4ECF-9994-EA002B6EAD86}"/>
              </a:ext>
            </a:extLst>
          </p:cNvPr>
          <p:cNvSpPr>
            <a:spLocks noGrp="1"/>
          </p:cNvSpPr>
          <p:nvPr>
            <p:ph type="body" sz="quarter" idx="13"/>
          </p:nvPr>
        </p:nvSpPr>
        <p:spPr>
          <a:xfrm>
            <a:off x="781724" y="1523255"/>
            <a:ext cx="10624338" cy="4142989"/>
          </a:xfrm>
        </p:spPr>
        <p:txBody>
          <a:bodyPr/>
          <a:lstStyle/>
          <a:p>
            <a:r>
              <a:rPr lang="en-IN" sz="2400" b="0" dirty="0" err="1">
                <a:solidFill>
                  <a:schemeClr val="tx1">
                    <a:lumMod val="95000"/>
                    <a:lumOff val="5000"/>
                  </a:schemeClr>
                </a:solidFill>
              </a:rPr>
              <a:t>EduTrace</a:t>
            </a:r>
            <a:r>
              <a:rPr lang="en-IN" sz="2400" b="0" dirty="0">
                <a:solidFill>
                  <a:schemeClr val="tx1">
                    <a:lumMod val="95000"/>
                    <a:lumOff val="5000"/>
                  </a:schemeClr>
                </a:solidFill>
              </a:rPr>
              <a:t> demonstrates how AI, performance analytics, and RAG-based knowledge retrieval can be combined to create a personalized learning environment. The system identifies learner-specific weak areas and provides targeted academic assistance instead of relying only on generic content. By connecting academic performance with trusted educational resources, </a:t>
            </a:r>
            <a:r>
              <a:rPr lang="en-IN" sz="2400" b="0" dirty="0" err="1">
                <a:solidFill>
                  <a:schemeClr val="tx1">
                    <a:lumMod val="95000"/>
                    <a:lumOff val="5000"/>
                  </a:schemeClr>
                </a:solidFill>
              </a:rPr>
              <a:t>EduTrace</a:t>
            </a:r>
            <a:r>
              <a:rPr lang="en-IN" sz="2400" b="0" dirty="0">
                <a:solidFill>
                  <a:schemeClr val="tx1">
                    <a:lumMod val="95000"/>
                    <a:lumOff val="5000"/>
                  </a:schemeClr>
                </a:solidFill>
              </a:rPr>
              <a:t> helps learners understand concepts, identify what to study, and prepare more effectively for examinations.</a:t>
            </a:r>
          </a:p>
          <a:p>
            <a:r>
              <a:rPr lang="en-IN" sz="2400" b="0" dirty="0" err="1">
                <a:solidFill>
                  <a:schemeClr val="tx1">
                    <a:lumMod val="95000"/>
                    <a:lumOff val="5000"/>
                  </a:schemeClr>
                </a:solidFill>
              </a:rPr>
              <a:t>EduTrace</a:t>
            </a:r>
            <a:r>
              <a:rPr lang="en-IN" sz="2400" b="0" dirty="0">
                <a:solidFill>
                  <a:schemeClr val="tx1">
                    <a:lumMod val="95000"/>
                    <a:lumOff val="5000"/>
                  </a:schemeClr>
                </a:solidFill>
              </a:rPr>
              <a:t> transforms academic data into personalized learning guidance</a:t>
            </a:r>
          </a:p>
          <a:p>
            <a:pPr marL="0" indent="0">
              <a:lnSpc>
                <a:spcPct val="150000"/>
              </a:lnSpc>
              <a:buNone/>
            </a:pPr>
            <a:endParaRPr lang="en-US" sz="2400" b="0" dirty="0">
              <a:solidFill>
                <a:schemeClr val="tx1">
                  <a:lumMod val="95000"/>
                  <a:lumOff val="5000"/>
                </a:schemeClr>
              </a:solidFill>
            </a:endParaRPr>
          </a:p>
        </p:txBody>
      </p:sp>
      <p:sp>
        <p:nvSpPr>
          <p:cNvPr id="3" name="TextBox 2">
            <a:extLst>
              <a:ext uri="{FF2B5EF4-FFF2-40B4-BE49-F238E27FC236}">
                <a16:creationId xmlns:a16="http://schemas.microsoft.com/office/drawing/2014/main" id="{DBEA9949-295E-B2C7-8E3A-639B0AD48F51}"/>
              </a:ext>
            </a:extLst>
          </p:cNvPr>
          <p:cNvSpPr txBox="1"/>
          <p:nvPr/>
        </p:nvSpPr>
        <p:spPr>
          <a:xfrm>
            <a:off x="255996" y="502545"/>
            <a:ext cx="10624338" cy="646331"/>
          </a:xfrm>
          <a:prstGeom prst="rect">
            <a:avLst/>
          </a:prstGeom>
          <a:noFill/>
        </p:spPr>
        <p:txBody>
          <a:bodyPr wrap="square" rtlCol="0">
            <a:spAutoFit/>
          </a:bodyPr>
          <a:lstStyle/>
          <a:p>
            <a:pPr lvl="0">
              <a:defRPr/>
            </a:pPr>
            <a:r>
              <a:rPr lang="en-IN" sz="3600" b="1" dirty="0">
                <a:solidFill>
                  <a:schemeClr val="accent1">
                    <a:lumMod val="50000"/>
                  </a:schemeClr>
                </a:solidFill>
              </a:rPr>
              <a:t>Conclusion</a:t>
            </a:r>
            <a:endParaRPr kumimoji="0" lang="en-US" sz="3600" b="1"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C3477A6-BED1-8211-5527-9030F1E8694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8371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44C2DE8-BF56-836A-83A4-4B50A9A6ECC0}"/>
              </a:ext>
            </a:extLst>
          </p:cNvPr>
          <p:cNvSpPr>
            <a:spLocks noGrp="1"/>
          </p:cNvSpPr>
          <p:nvPr>
            <p:ph type="body" sz="quarter" idx="13"/>
          </p:nvPr>
        </p:nvSpPr>
        <p:spPr/>
        <p:txBody>
          <a:bodyPr/>
          <a:lstStyle/>
          <a:p>
            <a:pPr algn="just"/>
            <a:r>
              <a:rPr lang="en-IN" b="0" dirty="0">
                <a:solidFill>
                  <a:schemeClr val="tx1"/>
                </a:solidFill>
              </a:rPr>
              <a:t>I sincerely thank LTM and L&amp;T </a:t>
            </a:r>
            <a:r>
              <a:rPr lang="en-IN" b="0" dirty="0" err="1">
                <a:solidFill>
                  <a:schemeClr val="tx1"/>
                </a:solidFill>
              </a:rPr>
              <a:t>EduTech</a:t>
            </a:r>
            <a:r>
              <a:rPr lang="en-IN" b="0" dirty="0">
                <a:solidFill>
                  <a:schemeClr val="tx1"/>
                </a:solidFill>
              </a:rPr>
              <a:t> for providing the necessary infrastructure, laptop, training room, ID card, and the valuable two-month opportunity to enhance my technical skills through practical project development.</a:t>
            </a:r>
          </a:p>
          <a:p>
            <a:pPr algn="just"/>
            <a:r>
              <a:rPr lang="en-IN" b="0" dirty="0">
                <a:solidFill>
                  <a:schemeClr val="tx1"/>
                </a:solidFill>
              </a:rPr>
              <a:t>I express my special gratitude to Dr. Ganesh for his continuous guidance, valuable suggestions, and support throughout the project. I also extend my sincere thanks to the Classroom Managers for their daily monitoring, coordination, and assistance in resolving various issues.</a:t>
            </a:r>
          </a:p>
          <a:p>
            <a:pPr algn="just"/>
            <a:r>
              <a:rPr lang="en-IN" b="0" dirty="0">
                <a:solidFill>
                  <a:schemeClr val="tx1"/>
                </a:solidFill>
              </a:rPr>
              <a:t>Finally, I would like to express my special thanks to Mr. Jayakanthan, Manager – Delivery Operations, L&amp;T </a:t>
            </a:r>
            <a:r>
              <a:rPr lang="en-IN" b="0" dirty="0" err="1">
                <a:solidFill>
                  <a:schemeClr val="tx1"/>
                </a:solidFill>
              </a:rPr>
              <a:t>EduTech</a:t>
            </a:r>
            <a:r>
              <a:rPr lang="en-IN" b="0" dirty="0">
                <a:solidFill>
                  <a:schemeClr val="tx1"/>
                </a:solidFill>
              </a:rPr>
              <a:t>, for his encouragement, continuous support, and for providing me with this valuable opportunity to develop my technical and professional skills.</a:t>
            </a:r>
          </a:p>
          <a:p>
            <a:pPr algn="just"/>
            <a:endParaRPr lang="en-IN" b="0" dirty="0">
              <a:solidFill>
                <a:schemeClr val="tx1"/>
              </a:solidFill>
            </a:endParaRPr>
          </a:p>
        </p:txBody>
      </p:sp>
      <p:sp>
        <p:nvSpPr>
          <p:cNvPr id="3" name="Text Placeholder 2">
            <a:extLst>
              <a:ext uri="{FF2B5EF4-FFF2-40B4-BE49-F238E27FC236}">
                <a16:creationId xmlns:a16="http://schemas.microsoft.com/office/drawing/2014/main" id="{29393B52-325D-233E-6376-ED1DB80776B4}"/>
              </a:ext>
            </a:extLst>
          </p:cNvPr>
          <p:cNvSpPr>
            <a:spLocks noGrp="1"/>
          </p:cNvSpPr>
          <p:nvPr>
            <p:ph type="body" sz="quarter" idx="15"/>
          </p:nvPr>
        </p:nvSpPr>
        <p:spPr/>
        <p:txBody>
          <a:bodyPr/>
          <a:lstStyle/>
          <a:p>
            <a:pPr marL="0" indent="0">
              <a:buNone/>
            </a:pPr>
            <a:r>
              <a:rPr lang="en-IN" sz="3600" dirty="0">
                <a:solidFill>
                  <a:schemeClr val="accent1">
                    <a:lumMod val="50000"/>
                  </a:schemeClr>
                </a:solidFill>
              </a:rPr>
              <a:t>ACKNOWLEDGEMENT</a:t>
            </a:r>
          </a:p>
          <a:p>
            <a:pPr marL="0" indent="0">
              <a:buNone/>
            </a:pPr>
            <a:endParaRPr lang="en-IN" dirty="0"/>
          </a:p>
        </p:txBody>
      </p:sp>
    </p:spTree>
    <p:extLst>
      <p:ext uri="{BB962C8B-B14F-4D97-AF65-F5344CB8AC3E}">
        <p14:creationId xmlns:p14="http://schemas.microsoft.com/office/powerpoint/2010/main" val="10897202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C7AD411-7DC0-059B-F4BC-ADB14FF0658D}"/>
              </a:ext>
            </a:extLst>
          </p:cNvPr>
          <p:cNvSpPr>
            <a:spLocks noGrp="1"/>
          </p:cNvSpPr>
          <p:nvPr>
            <p:ph type="body" sz="quarter" idx="13"/>
          </p:nvPr>
        </p:nvSpPr>
        <p:spPr/>
        <p:txBody>
          <a:bodyPr/>
          <a:lstStyle/>
          <a:p>
            <a:pPr lvl="0"/>
            <a:r>
              <a:rPr lang="en-IN" sz="2400" b="0" dirty="0">
                <a:solidFill>
                  <a:schemeClr val="tx1">
                    <a:lumMod val="95000"/>
                    <a:lumOff val="5000"/>
                  </a:schemeClr>
                </a:solidFill>
              </a:rPr>
              <a:t>Lewis, P. et al. — Retrieval-Augmented Generation for Knowledge-Intensive NLP Tasks, </a:t>
            </a:r>
            <a:r>
              <a:rPr lang="en-IN" sz="2400" b="0" dirty="0" err="1">
                <a:solidFill>
                  <a:schemeClr val="tx1">
                    <a:lumMod val="95000"/>
                    <a:lumOff val="5000"/>
                  </a:schemeClr>
                </a:solidFill>
              </a:rPr>
              <a:t>NeurIPS</a:t>
            </a:r>
            <a:r>
              <a:rPr lang="en-IN" sz="2400" b="0" dirty="0">
                <a:solidFill>
                  <a:schemeClr val="tx1">
                    <a:lumMod val="95000"/>
                    <a:lumOff val="5000"/>
                  </a:schemeClr>
                </a:solidFill>
              </a:rPr>
              <a:t>, 2020. </a:t>
            </a:r>
          </a:p>
          <a:p>
            <a:pPr lvl="0"/>
            <a:r>
              <a:rPr lang="en-IN" sz="2400" b="0" dirty="0">
                <a:solidFill>
                  <a:schemeClr val="tx1">
                    <a:lumMod val="95000"/>
                    <a:lumOff val="5000"/>
                  </a:schemeClr>
                </a:solidFill>
              </a:rPr>
              <a:t>Vaswani, A. et al. — Attention Is All You Need, </a:t>
            </a:r>
            <a:r>
              <a:rPr lang="en-IN" sz="2400" b="0" dirty="0" err="1">
                <a:solidFill>
                  <a:schemeClr val="tx1">
                    <a:lumMod val="95000"/>
                    <a:lumOff val="5000"/>
                  </a:schemeClr>
                </a:solidFill>
              </a:rPr>
              <a:t>NeurIPS</a:t>
            </a:r>
            <a:r>
              <a:rPr lang="en-IN" sz="2400" b="0" dirty="0">
                <a:solidFill>
                  <a:schemeClr val="tx1">
                    <a:lumMod val="95000"/>
                    <a:lumOff val="5000"/>
                  </a:schemeClr>
                </a:solidFill>
              </a:rPr>
              <a:t>, 2017. </a:t>
            </a:r>
          </a:p>
          <a:p>
            <a:pPr lvl="0"/>
            <a:r>
              <a:rPr lang="en-IN" sz="2400" b="0" dirty="0">
                <a:solidFill>
                  <a:schemeClr val="tx1">
                    <a:lumMod val="95000"/>
                    <a:lumOff val="5000"/>
                  </a:schemeClr>
                </a:solidFill>
              </a:rPr>
              <a:t>Pedregosa, F. et al. — Scikit-learn: Machine Learning in Python, Journal of Machine Learning Research, 2011. </a:t>
            </a:r>
          </a:p>
          <a:p>
            <a:pPr lvl="0"/>
            <a:r>
              <a:rPr lang="en-IN" sz="2400" b="0" dirty="0">
                <a:solidFill>
                  <a:schemeClr val="tx1">
                    <a:lumMod val="95000"/>
                    <a:lumOff val="5000"/>
                  </a:schemeClr>
                </a:solidFill>
              </a:rPr>
              <a:t>McKinney, W. — Python for Data Analysis, O’Reilly Media. </a:t>
            </a:r>
          </a:p>
          <a:p>
            <a:pPr lvl="0"/>
            <a:r>
              <a:rPr lang="en-IN" sz="2400" b="0" dirty="0" err="1">
                <a:solidFill>
                  <a:schemeClr val="tx1">
                    <a:lumMod val="95000"/>
                    <a:lumOff val="5000"/>
                  </a:schemeClr>
                </a:solidFill>
              </a:rPr>
              <a:t>FastAPI</a:t>
            </a:r>
            <a:r>
              <a:rPr lang="en-IN" sz="2400" b="0" dirty="0">
                <a:solidFill>
                  <a:schemeClr val="tx1">
                    <a:lumMod val="95000"/>
                    <a:lumOff val="5000"/>
                  </a:schemeClr>
                </a:solidFill>
              </a:rPr>
              <a:t> Documentation — Backend API development framework. </a:t>
            </a:r>
          </a:p>
          <a:p>
            <a:pPr lvl="0"/>
            <a:r>
              <a:rPr lang="en-IN" sz="2400" b="0" dirty="0">
                <a:solidFill>
                  <a:schemeClr val="tx1">
                    <a:lumMod val="95000"/>
                    <a:lumOff val="5000"/>
                  </a:schemeClr>
                </a:solidFill>
              </a:rPr>
              <a:t>React Documentation — Frontend development framework. </a:t>
            </a:r>
          </a:p>
          <a:p>
            <a:pPr lvl="0"/>
            <a:r>
              <a:rPr lang="en-IN" sz="2400" b="0" dirty="0" err="1">
                <a:solidFill>
                  <a:schemeClr val="tx1">
                    <a:lumMod val="95000"/>
                    <a:lumOff val="5000"/>
                  </a:schemeClr>
                </a:solidFill>
              </a:rPr>
              <a:t>Groq</a:t>
            </a:r>
            <a:r>
              <a:rPr lang="en-IN" sz="2400" b="0" dirty="0">
                <a:solidFill>
                  <a:schemeClr val="tx1">
                    <a:lumMod val="95000"/>
                    <a:lumOff val="5000"/>
                  </a:schemeClr>
                </a:solidFill>
              </a:rPr>
              <a:t> API Documentation — LLM inference and AI integration. </a:t>
            </a:r>
          </a:p>
          <a:p>
            <a:pPr lvl="0"/>
            <a:r>
              <a:rPr lang="en-IN" sz="2400" b="0" dirty="0">
                <a:solidFill>
                  <a:schemeClr val="tx1">
                    <a:lumMod val="95000"/>
                    <a:lumOff val="5000"/>
                  </a:schemeClr>
                </a:solidFill>
              </a:rPr>
              <a:t>Relevant educational datasets used for academic performance and topic analysis.</a:t>
            </a:r>
          </a:p>
          <a:p>
            <a:endParaRPr lang="en-IN" dirty="0">
              <a:solidFill>
                <a:schemeClr val="tx1">
                  <a:lumMod val="95000"/>
                  <a:lumOff val="5000"/>
                </a:schemeClr>
              </a:solidFill>
            </a:endParaRPr>
          </a:p>
        </p:txBody>
      </p:sp>
      <p:sp>
        <p:nvSpPr>
          <p:cNvPr id="3" name="Text Placeholder 2">
            <a:extLst>
              <a:ext uri="{FF2B5EF4-FFF2-40B4-BE49-F238E27FC236}">
                <a16:creationId xmlns:a16="http://schemas.microsoft.com/office/drawing/2014/main" id="{1B18406F-5FC4-1C42-1719-46023D3F1921}"/>
              </a:ext>
            </a:extLst>
          </p:cNvPr>
          <p:cNvSpPr>
            <a:spLocks noGrp="1"/>
          </p:cNvSpPr>
          <p:nvPr>
            <p:ph type="body" sz="quarter" idx="15"/>
          </p:nvPr>
        </p:nvSpPr>
        <p:spPr/>
        <p:txBody>
          <a:bodyPr/>
          <a:lstStyle/>
          <a:p>
            <a:pPr marL="0" indent="0">
              <a:buNone/>
            </a:pPr>
            <a:r>
              <a:rPr lang="en-IN" sz="3600" dirty="0">
                <a:solidFill>
                  <a:schemeClr val="accent1">
                    <a:lumMod val="50000"/>
                  </a:schemeClr>
                </a:solidFill>
              </a:rPr>
              <a:t>References</a:t>
            </a:r>
          </a:p>
        </p:txBody>
      </p:sp>
    </p:spTree>
    <p:extLst>
      <p:ext uri="{BB962C8B-B14F-4D97-AF65-F5344CB8AC3E}">
        <p14:creationId xmlns:p14="http://schemas.microsoft.com/office/powerpoint/2010/main" val="486217883"/>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627</TotalTime>
  <Words>893</Words>
  <Application>Microsoft Office PowerPoint</Application>
  <PresentationFormat>Widescreen</PresentationFormat>
  <Paragraphs>131</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(Body)</vt:lpstr>
      <vt:lpstr>Frutiger 45 bold</vt:lpstr>
      <vt:lpstr>Frutiger LT Pro 45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Sneha Shree</cp:lastModifiedBy>
  <cp:revision>20</cp:revision>
  <dcterms:created xsi:type="dcterms:W3CDTF">2024-05-13T10:33:11Z</dcterms:created>
  <dcterms:modified xsi:type="dcterms:W3CDTF">2026-10-13T06:33:17Z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