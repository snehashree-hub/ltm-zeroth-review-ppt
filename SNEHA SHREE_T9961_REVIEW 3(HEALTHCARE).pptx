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87" r:id="rId5"/>
    <p:sldId id="2147470494" r:id="rId6"/>
    <p:sldId id="2147470502" r:id="rId7"/>
    <p:sldId id="2147470503" r:id="rId8"/>
    <p:sldId id="2147470497" r:id="rId9"/>
    <p:sldId id="2147470501" r:id="rId10"/>
    <p:sldId id="2147470500" r:id="rId11"/>
    <p:sldId id="2147470499" r:id="rId12"/>
    <p:sldId id="2147470504" r:id="rId13"/>
    <p:sldId id="2147470506" r:id="rId14"/>
    <p:sldId id="214747050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2" d="100"/>
          <a:sy n="42" d="100"/>
        </p:scale>
        <p:origin x="72" y="39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61247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algn="ctr">
              <a:defRPr/>
            </a:pPr>
            <a:r>
              <a:rPr lang="en-US" sz="3600" b="1" dirty="0">
                <a:solidFill>
                  <a:prstClr val="white"/>
                </a:solidFill>
                <a:cs typeface="Calibri" panose="020F0502020204030204" pitchFamily="34" charset="0"/>
              </a:rPr>
              <a:t>AI Agent for Health Insurance Claim Assistance </a:t>
            </a:r>
          </a:p>
          <a:p>
            <a:pPr lvl="0" algn="ctr">
              <a:defRPr/>
            </a:pPr>
            <a:endParaRPr lang="en-IN" sz="3600" dirty="0"/>
          </a:p>
          <a:p>
            <a:pPr lvl="0" algn="ctr">
              <a:defRPr/>
            </a:pPr>
            <a:r>
              <a:rPr lang="en-US" sz="3600" b="1" dirty="0" err="1">
                <a:solidFill>
                  <a:prstClr val="white"/>
                </a:solidFill>
                <a:cs typeface="Calibri" panose="020F0502020204030204" pitchFamily="34" charset="0"/>
              </a:rPr>
              <a:t>M.Tech</a:t>
            </a:r>
            <a:r>
              <a:rPr lang="en-US" sz="3600" b="1" dirty="0">
                <a:solidFill>
                  <a:prstClr val="white"/>
                </a:solidFill>
                <a:cs typeface="Calibri" panose="020F0502020204030204" pitchFamily="34" charset="0"/>
              </a:rPr>
              <a:t> </a:t>
            </a:r>
          </a:p>
          <a:p>
            <a:pPr lvl="0" algn="ctr">
              <a:defRPr/>
            </a:pPr>
            <a:endParaRPr lang="en-US" sz="3600" b="1" dirty="0">
              <a:solidFill>
                <a:schemeClr val="bg1"/>
              </a:solidFill>
              <a:cs typeface="Calibri" panose="020F0502020204030204" pitchFamily="34" charset="0"/>
            </a:endParaRPr>
          </a:p>
          <a:p>
            <a:pPr lvl="0" algn="ctr">
              <a:defRPr/>
            </a:pPr>
            <a:r>
              <a:rPr lang="en-IN" sz="2800" dirty="0">
                <a:solidFill>
                  <a:schemeClr val="bg1"/>
                </a:solidFill>
              </a:rPr>
              <a:t>B.S. Abdur Rahman Crescent Institute of Science and Technology/T9961</a:t>
            </a:r>
          </a:p>
          <a:p>
            <a:pPr lvl="0" algn="ctr">
              <a:defRPr/>
            </a:pPr>
            <a:endParaRPr kumimoji="0" lang="en-US" sz="2800"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SNEHA SHREE 24</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7" y="1271219"/>
            <a:ext cx="11301420" cy="4142989"/>
          </a:xfrm>
        </p:spPr>
        <p:txBody>
          <a:bodyPr/>
          <a:lstStyle/>
          <a:p>
            <a:pPr lvl="0"/>
            <a:r>
              <a:rPr lang="en-IN" sz="2400" b="0" dirty="0">
                <a:solidFill>
                  <a:schemeClr val="tx1"/>
                </a:solidFill>
              </a:rPr>
              <a:t>AI-based platform designed to simplify the health insurance claim process. </a:t>
            </a:r>
          </a:p>
          <a:p>
            <a:pPr lvl="0"/>
            <a:r>
              <a:rPr lang="en-IN" sz="2400" b="0" dirty="0">
                <a:solidFill>
                  <a:schemeClr val="tx1"/>
                </a:solidFill>
              </a:rPr>
              <a:t>Allows users to submit claim details and supporting medical documents. </a:t>
            </a:r>
          </a:p>
          <a:p>
            <a:pPr lvl="0"/>
            <a:r>
              <a:rPr lang="en-IN" sz="2400" b="0" dirty="0">
                <a:solidFill>
                  <a:schemeClr val="tx1"/>
                </a:solidFill>
              </a:rPr>
              <a:t>Performs automated document verification and policy eligibility checking. </a:t>
            </a:r>
          </a:p>
          <a:p>
            <a:pPr lvl="0"/>
            <a:r>
              <a:rPr lang="en-IN" sz="2400" b="0" dirty="0">
                <a:solidFill>
                  <a:schemeClr val="tx1"/>
                </a:solidFill>
              </a:rPr>
              <a:t>Uses machine learning to identify potentially suspicious claim patterns. </a:t>
            </a:r>
          </a:p>
          <a:p>
            <a:pPr lvl="0"/>
            <a:r>
              <a:rPr lang="en-IN" sz="2400" b="0" dirty="0">
                <a:solidFill>
                  <a:schemeClr val="tx1"/>
                </a:solidFill>
              </a:rPr>
              <a:t>Provides AI-based assistance for claim-related queries and guidance. </a:t>
            </a:r>
          </a:p>
          <a:p>
            <a:pPr lvl="0"/>
            <a:r>
              <a:rPr lang="en-IN" sz="2400" b="0" dirty="0">
                <a:solidFill>
                  <a:schemeClr val="tx1"/>
                </a:solidFill>
              </a:rPr>
              <a:t>Recommends suitable hospitals and doctors based on treatment and location. </a:t>
            </a:r>
          </a:p>
          <a:p>
            <a:pPr lvl="0"/>
            <a:r>
              <a:rPr lang="en-IN" sz="2400" b="0" dirty="0">
                <a:solidFill>
                  <a:schemeClr val="tx1"/>
                </a:solidFill>
              </a:rPr>
              <a:t>Provides claim tracking and status updates through a centralized platform</a:t>
            </a: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lvl="0"/>
            <a:r>
              <a:rPr lang="en-IN" sz="2400" b="0" dirty="0">
                <a:solidFill>
                  <a:schemeClr val="tx1"/>
                </a:solidFill>
              </a:rPr>
              <a:t>Automate major stages of the health insurance claim process. </a:t>
            </a:r>
          </a:p>
          <a:p>
            <a:pPr lvl="0"/>
            <a:r>
              <a:rPr lang="en-IN" sz="2400" b="0" dirty="0">
                <a:solidFill>
                  <a:schemeClr val="tx1"/>
                </a:solidFill>
              </a:rPr>
              <a:t>Reduce manual effort in claim verification and processing. </a:t>
            </a:r>
          </a:p>
          <a:p>
            <a:pPr lvl="0"/>
            <a:r>
              <a:rPr lang="en-IN" sz="2400" b="0" dirty="0">
                <a:solidFill>
                  <a:schemeClr val="tx1"/>
                </a:solidFill>
              </a:rPr>
              <a:t>Verify medical documents and supporting claim information. </a:t>
            </a:r>
          </a:p>
          <a:p>
            <a:pPr lvl="0"/>
            <a:r>
              <a:rPr lang="en-IN" sz="2400" b="0" dirty="0">
                <a:solidFill>
                  <a:schemeClr val="tx1"/>
                </a:solidFill>
              </a:rPr>
              <a:t>Check policy eligibility and treatment coverage. </a:t>
            </a:r>
          </a:p>
          <a:p>
            <a:pPr lvl="0"/>
            <a:r>
              <a:rPr lang="en-IN" sz="2400" b="0" dirty="0">
                <a:solidFill>
                  <a:schemeClr val="tx1"/>
                </a:solidFill>
              </a:rPr>
              <a:t>Identify potential fraudulent or abnormal claims. </a:t>
            </a:r>
          </a:p>
          <a:p>
            <a:pPr lvl="0"/>
            <a:r>
              <a:rPr lang="en-IN" sz="2400" b="0" dirty="0">
                <a:solidFill>
                  <a:schemeClr val="tx1"/>
                </a:solidFill>
              </a:rPr>
              <a:t>Provide personalized hospital and doctor recommendations. </a:t>
            </a:r>
          </a:p>
          <a:p>
            <a:pPr lvl="0"/>
            <a:r>
              <a:rPr lang="en-IN" sz="2400" b="0" dirty="0">
                <a:solidFill>
                  <a:schemeClr val="tx1"/>
                </a:solidFill>
              </a:rPr>
              <a:t>Help users understand their claim status and required actions. </a:t>
            </a:r>
          </a:p>
          <a:p>
            <a:pPr lvl="0"/>
            <a:r>
              <a:rPr lang="en-IN" sz="2400" b="0" dirty="0">
                <a:solidFill>
                  <a:schemeClr val="tx1"/>
                </a:solidFill>
              </a:rPr>
              <a:t>Improve the speed, transparency, and usability of claim assistance.</a:t>
            </a: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p:txBody>
          <a:bodyPr/>
          <a:lstStyle/>
          <a:p>
            <a:pPr lvl="1"/>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31A49AF5-53AF-BCC1-A9AA-C50065E189DD}"/>
              </a:ext>
            </a:extLst>
          </p:cNvPr>
          <p:cNvGraphicFramePr>
            <a:graphicFrameLocks noGrp="1"/>
          </p:cNvGraphicFramePr>
          <p:nvPr>
            <p:extLst>
              <p:ext uri="{D42A27DB-BD31-4B8C-83A1-F6EECF244321}">
                <p14:modId xmlns:p14="http://schemas.microsoft.com/office/powerpoint/2010/main" val="318410627"/>
              </p:ext>
            </p:extLst>
          </p:nvPr>
        </p:nvGraphicFramePr>
        <p:xfrm>
          <a:off x="255996" y="1271219"/>
          <a:ext cx="11426418" cy="4329798"/>
        </p:xfrm>
        <a:graphic>
          <a:graphicData uri="http://schemas.openxmlformats.org/drawingml/2006/table">
            <a:tbl>
              <a:tblPr>
                <a:tableStyleId>{5C22544A-7EE6-4342-B048-85BDC9FD1C3A}</a:tableStyleId>
              </a:tblPr>
              <a:tblGrid>
                <a:gridCol w="5713209">
                  <a:extLst>
                    <a:ext uri="{9D8B030D-6E8A-4147-A177-3AD203B41FA5}">
                      <a16:colId xmlns:a16="http://schemas.microsoft.com/office/drawing/2014/main" val="2313825440"/>
                    </a:ext>
                  </a:extLst>
                </a:gridCol>
                <a:gridCol w="5713209">
                  <a:extLst>
                    <a:ext uri="{9D8B030D-6E8A-4147-A177-3AD203B41FA5}">
                      <a16:colId xmlns:a16="http://schemas.microsoft.com/office/drawing/2014/main" val="3696098379"/>
                    </a:ext>
                  </a:extLst>
                </a:gridCol>
              </a:tblGrid>
              <a:tr h="393618">
                <a:tc>
                  <a:txBody>
                    <a:bodyPr/>
                    <a:lstStyle/>
                    <a:p>
                      <a:pPr>
                        <a:buNone/>
                      </a:pPr>
                      <a:r>
                        <a:rPr lang="en-IN"/>
                        <a:t>Module</a:t>
                      </a:r>
                    </a:p>
                  </a:txBody>
                  <a:tcPr anchor="ctr"/>
                </a:tc>
                <a:tc>
                  <a:txBody>
                    <a:bodyPr/>
                    <a:lstStyle/>
                    <a:p>
                      <a:pPr>
                        <a:buNone/>
                      </a:pPr>
                      <a:r>
                        <a:rPr lang="en-IN"/>
                        <a:t>Function</a:t>
                      </a:r>
                    </a:p>
                  </a:txBody>
                  <a:tcPr anchor="ctr"/>
                </a:tc>
                <a:extLst>
                  <a:ext uri="{0D108BD9-81ED-4DB2-BD59-A6C34878D82A}">
                    <a16:rowId xmlns:a16="http://schemas.microsoft.com/office/drawing/2014/main" val="1433865504"/>
                  </a:ext>
                </a:extLst>
              </a:tr>
              <a:tr h="393618">
                <a:tc>
                  <a:txBody>
                    <a:bodyPr/>
                    <a:lstStyle/>
                    <a:p>
                      <a:pPr>
                        <a:buNone/>
                      </a:pPr>
                      <a:r>
                        <a:rPr lang="en-IN"/>
                        <a:t>User Module</a:t>
                      </a:r>
                    </a:p>
                  </a:txBody>
                  <a:tcPr anchor="ctr"/>
                </a:tc>
                <a:tc>
                  <a:txBody>
                    <a:bodyPr/>
                    <a:lstStyle/>
                    <a:p>
                      <a:pPr>
                        <a:buNone/>
                      </a:pPr>
                      <a:r>
                        <a:rPr lang="en-IN"/>
                        <a:t>Manages user details and claim access</a:t>
                      </a:r>
                    </a:p>
                  </a:txBody>
                  <a:tcPr anchor="ctr"/>
                </a:tc>
                <a:extLst>
                  <a:ext uri="{0D108BD9-81ED-4DB2-BD59-A6C34878D82A}">
                    <a16:rowId xmlns:a16="http://schemas.microsoft.com/office/drawing/2014/main" val="736072293"/>
                  </a:ext>
                </a:extLst>
              </a:tr>
              <a:tr h="393618">
                <a:tc>
                  <a:txBody>
                    <a:bodyPr/>
                    <a:lstStyle/>
                    <a:p>
                      <a:pPr>
                        <a:buNone/>
                      </a:pPr>
                      <a:r>
                        <a:rPr lang="en-IN"/>
                        <a:t>New Claim Module</a:t>
                      </a:r>
                    </a:p>
                  </a:txBody>
                  <a:tcPr anchor="ctr"/>
                </a:tc>
                <a:tc>
                  <a:txBody>
                    <a:bodyPr/>
                    <a:lstStyle/>
                    <a:p>
                      <a:pPr>
                        <a:buNone/>
                      </a:pPr>
                      <a:r>
                        <a:rPr lang="en-IN"/>
                        <a:t>Collects and submits new claim information</a:t>
                      </a:r>
                    </a:p>
                  </a:txBody>
                  <a:tcPr anchor="ctr"/>
                </a:tc>
                <a:extLst>
                  <a:ext uri="{0D108BD9-81ED-4DB2-BD59-A6C34878D82A}">
                    <a16:rowId xmlns:a16="http://schemas.microsoft.com/office/drawing/2014/main" val="2270741369"/>
                  </a:ext>
                </a:extLst>
              </a:tr>
              <a:tr h="393618">
                <a:tc>
                  <a:txBody>
                    <a:bodyPr/>
                    <a:lstStyle/>
                    <a:p>
                      <a:pPr>
                        <a:buNone/>
                      </a:pPr>
                      <a:r>
                        <a:rPr lang="en-IN"/>
                        <a:t>Document Verification</a:t>
                      </a:r>
                    </a:p>
                  </a:txBody>
                  <a:tcPr anchor="ctr"/>
                </a:tc>
                <a:tc>
                  <a:txBody>
                    <a:bodyPr/>
                    <a:lstStyle/>
                    <a:p>
                      <a:pPr>
                        <a:buNone/>
                      </a:pPr>
                      <a:r>
                        <a:rPr lang="en-IN"/>
                        <a:t>Verifies uploaded medical documents</a:t>
                      </a:r>
                    </a:p>
                  </a:txBody>
                  <a:tcPr anchor="ctr"/>
                </a:tc>
                <a:extLst>
                  <a:ext uri="{0D108BD9-81ED-4DB2-BD59-A6C34878D82A}">
                    <a16:rowId xmlns:a16="http://schemas.microsoft.com/office/drawing/2014/main" val="4250533790"/>
                  </a:ext>
                </a:extLst>
              </a:tr>
              <a:tr h="393618">
                <a:tc>
                  <a:txBody>
                    <a:bodyPr/>
                    <a:lstStyle/>
                    <a:p>
                      <a:pPr>
                        <a:buNone/>
                      </a:pPr>
                      <a:r>
                        <a:rPr lang="en-IN"/>
                        <a:t>Eligibility Checker</a:t>
                      </a:r>
                    </a:p>
                  </a:txBody>
                  <a:tcPr anchor="ctr"/>
                </a:tc>
                <a:tc>
                  <a:txBody>
                    <a:bodyPr/>
                    <a:lstStyle/>
                    <a:p>
                      <a:pPr>
                        <a:buNone/>
                      </a:pPr>
                      <a:r>
                        <a:rPr lang="en-IN"/>
                        <a:t>Checks policy and treatment eligibility</a:t>
                      </a:r>
                    </a:p>
                  </a:txBody>
                  <a:tcPr anchor="ctr"/>
                </a:tc>
                <a:extLst>
                  <a:ext uri="{0D108BD9-81ED-4DB2-BD59-A6C34878D82A}">
                    <a16:rowId xmlns:a16="http://schemas.microsoft.com/office/drawing/2014/main" val="2544061473"/>
                  </a:ext>
                </a:extLst>
              </a:tr>
              <a:tr h="393618">
                <a:tc>
                  <a:txBody>
                    <a:bodyPr/>
                    <a:lstStyle/>
                    <a:p>
                      <a:pPr>
                        <a:buNone/>
                      </a:pPr>
                      <a:r>
                        <a:rPr lang="en-IN"/>
                        <a:t>Fraud Detection</a:t>
                      </a:r>
                    </a:p>
                  </a:txBody>
                  <a:tcPr anchor="ctr"/>
                </a:tc>
                <a:tc>
                  <a:txBody>
                    <a:bodyPr/>
                    <a:lstStyle/>
                    <a:p>
                      <a:pPr>
                        <a:buNone/>
                      </a:pPr>
                      <a:r>
                        <a:rPr lang="en-IN"/>
                        <a:t>Identifies suspicious claim patterns</a:t>
                      </a:r>
                    </a:p>
                  </a:txBody>
                  <a:tcPr anchor="ctr"/>
                </a:tc>
                <a:extLst>
                  <a:ext uri="{0D108BD9-81ED-4DB2-BD59-A6C34878D82A}">
                    <a16:rowId xmlns:a16="http://schemas.microsoft.com/office/drawing/2014/main" val="640369646"/>
                  </a:ext>
                </a:extLst>
              </a:tr>
              <a:tr h="393618">
                <a:tc>
                  <a:txBody>
                    <a:bodyPr/>
                    <a:lstStyle/>
                    <a:p>
                      <a:pPr>
                        <a:buNone/>
                      </a:pPr>
                      <a:r>
                        <a:rPr lang="en-IN"/>
                        <a:t>AI Claim Assistant</a:t>
                      </a:r>
                    </a:p>
                  </a:txBody>
                  <a:tcPr anchor="ctr"/>
                </a:tc>
                <a:tc>
                  <a:txBody>
                    <a:bodyPr/>
                    <a:lstStyle/>
                    <a:p>
                      <a:pPr>
                        <a:buNone/>
                      </a:pPr>
                      <a:r>
                        <a:rPr lang="en-IN"/>
                        <a:t>Provides claim-related guidance</a:t>
                      </a:r>
                    </a:p>
                  </a:txBody>
                  <a:tcPr anchor="ctr"/>
                </a:tc>
                <a:extLst>
                  <a:ext uri="{0D108BD9-81ED-4DB2-BD59-A6C34878D82A}">
                    <a16:rowId xmlns:a16="http://schemas.microsoft.com/office/drawing/2014/main" val="865147483"/>
                  </a:ext>
                </a:extLst>
              </a:tr>
              <a:tr h="393618">
                <a:tc>
                  <a:txBody>
                    <a:bodyPr/>
                    <a:lstStyle/>
                    <a:p>
                      <a:pPr>
                        <a:buNone/>
                      </a:pPr>
                      <a:r>
                        <a:rPr lang="en-IN"/>
                        <a:t>Hospital Recommendation</a:t>
                      </a:r>
                    </a:p>
                  </a:txBody>
                  <a:tcPr anchor="ctr"/>
                </a:tc>
                <a:tc>
                  <a:txBody>
                    <a:bodyPr/>
                    <a:lstStyle/>
                    <a:p>
                      <a:pPr>
                        <a:buNone/>
                      </a:pPr>
                      <a:r>
                        <a:rPr lang="en-IN"/>
                        <a:t>Suggests suitable hospitals</a:t>
                      </a:r>
                    </a:p>
                  </a:txBody>
                  <a:tcPr anchor="ctr"/>
                </a:tc>
                <a:extLst>
                  <a:ext uri="{0D108BD9-81ED-4DB2-BD59-A6C34878D82A}">
                    <a16:rowId xmlns:a16="http://schemas.microsoft.com/office/drawing/2014/main" val="4210724108"/>
                  </a:ext>
                </a:extLst>
              </a:tr>
              <a:tr h="393618">
                <a:tc>
                  <a:txBody>
                    <a:bodyPr/>
                    <a:lstStyle/>
                    <a:p>
                      <a:pPr>
                        <a:buNone/>
                      </a:pPr>
                      <a:r>
                        <a:rPr lang="en-IN"/>
                        <a:t>Doctor Recommendation</a:t>
                      </a:r>
                    </a:p>
                  </a:txBody>
                  <a:tcPr anchor="ctr"/>
                </a:tc>
                <a:tc>
                  <a:txBody>
                    <a:bodyPr/>
                    <a:lstStyle/>
                    <a:p>
                      <a:pPr>
                        <a:buNone/>
                      </a:pPr>
                      <a:r>
                        <a:rPr lang="en-IN"/>
                        <a:t>Suggests doctors based on treatment</a:t>
                      </a:r>
                    </a:p>
                  </a:txBody>
                  <a:tcPr anchor="ctr"/>
                </a:tc>
                <a:extLst>
                  <a:ext uri="{0D108BD9-81ED-4DB2-BD59-A6C34878D82A}">
                    <a16:rowId xmlns:a16="http://schemas.microsoft.com/office/drawing/2014/main" val="832021217"/>
                  </a:ext>
                </a:extLst>
              </a:tr>
              <a:tr h="393618">
                <a:tc>
                  <a:txBody>
                    <a:bodyPr/>
                    <a:lstStyle/>
                    <a:p>
                      <a:pPr>
                        <a:buNone/>
                      </a:pPr>
                      <a:r>
                        <a:rPr lang="en-IN"/>
                        <a:t>Claim Tracking</a:t>
                      </a:r>
                    </a:p>
                  </a:txBody>
                  <a:tcPr anchor="ctr"/>
                </a:tc>
                <a:tc>
                  <a:txBody>
                    <a:bodyPr/>
                    <a:lstStyle/>
                    <a:p>
                      <a:pPr>
                        <a:buNone/>
                      </a:pPr>
                      <a:r>
                        <a:rPr lang="en-IN"/>
                        <a:t>Tracks claim progress and status</a:t>
                      </a:r>
                    </a:p>
                  </a:txBody>
                  <a:tcPr anchor="ctr"/>
                </a:tc>
                <a:extLst>
                  <a:ext uri="{0D108BD9-81ED-4DB2-BD59-A6C34878D82A}">
                    <a16:rowId xmlns:a16="http://schemas.microsoft.com/office/drawing/2014/main" val="1198785714"/>
                  </a:ext>
                </a:extLst>
              </a:tr>
              <a:tr h="393618">
                <a:tc>
                  <a:txBody>
                    <a:bodyPr/>
                    <a:lstStyle/>
                    <a:p>
                      <a:pPr>
                        <a:buNone/>
                      </a:pPr>
                      <a:r>
                        <a:rPr lang="en-IN"/>
                        <a:t>Admin Dashboard</a:t>
                      </a:r>
                    </a:p>
                  </a:txBody>
                  <a:tcPr anchor="ctr"/>
                </a:tc>
                <a:tc>
                  <a:txBody>
                    <a:bodyPr/>
                    <a:lstStyle/>
                    <a:p>
                      <a:pPr>
                        <a:buNone/>
                      </a:pPr>
                      <a:r>
                        <a:rPr lang="en-IN" dirty="0"/>
                        <a:t>Supports claim monitoring and management</a:t>
                      </a:r>
                    </a:p>
                  </a:txBody>
                  <a:tcPr anchor="ctr"/>
                </a:tc>
                <a:extLst>
                  <a:ext uri="{0D108BD9-81ED-4DB2-BD59-A6C34878D82A}">
                    <a16:rowId xmlns:a16="http://schemas.microsoft.com/office/drawing/2014/main" val="3172182613"/>
                  </a:ext>
                </a:extLst>
              </a:tr>
            </a:tbl>
          </a:graphicData>
        </a:graphic>
      </p:graphicFrame>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5" y="1271219"/>
            <a:ext cx="11936005" cy="4142989"/>
          </a:xfrm>
        </p:spPr>
        <p:txBody>
          <a:bodyPr/>
          <a:lstStyle/>
          <a:p>
            <a:pPr lvl="0"/>
            <a:r>
              <a:rPr lang="en-IN" dirty="0">
                <a:solidFill>
                  <a:schemeClr val="tx1"/>
                </a:solidFill>
              </a:rPr>
              <a:t>Data Collection </a:t>
            </a:r>
          </a:p>
          <a:p>
            <a:pPr marL="457200" lvl="1" indent="0">
              <a:buNone/>
            </a:pPr>
            <a:r>
              <a:rPr lang="en-IN" dirty="0"/>
              <a:t>Collect claim, policy, patient, hospital, doctor, and treatment data. </a:t>
            </a:r>
          </a:p>
          <a:p>
            <a:pPr lvl="0"/>
            <a:r>
              <a:rPr lang="en-IN" dirty="0">
                <a:solidFill>
                  <a:schemeClr val="tx1"/>
                </a:solidFill>
              </a:rPr>
              <a:t>Data Preprocessing </a:t>
            </a:r>
          </a:p>
          <a:p>
            <a:pPr marL="457200" lvl="1" indent="0">
              <a:buNone/>
            </a:pPr>
            <a:r>
              <a:rPr lang="en-IN" dirty="0"/>
              <a:t>Clean, validate, and standardize the collected data. </a:t>
            </a:r>
          </a:p>
          <a:p>
            <a:pPr lvl="0"/>
            <a:r>
              <a:rPr lang="en-IN" dirty="0">
                <a:solidFill>
                  <a:schemeClr val="tx1"/>
                </a:solidFill>
              </a:rPr>
              <a:t>Exploratory Data Analysis </a:t>
            </a:r>
          </a:p>
          <a:p>
            <a:pPr marL="457200" lvl="1" indent="0">
              <a:buNone/>
            </a:pPr>
            <a:r>
              <a:rPr lang="en-IN" dirty="0" err="1"/>
              <a:t>Analyze</a:t>
            </a:r>
            <a:r>
              <a:rPr lang="en-IN" dirty="0"/>
              <a:t> claim amounts, claim status, treatments, and fraud patterns. </a:t>
            </a:r>
          </a:p>
          <a:p>
            <a:pPr lvl="0"/>
            <a:r>
              <a:rPr lang="en-IN" dirty="0">
                <a:solidFill>
                  <a:schemeClr val="tx1"/>
                </a:solidFill>
              </a:rPr>
              <a:t>Document Processing </a:t>
            </a:r>
          </a:p>
          <a:p>
            <a:pPr marL="457200" lvl="1" indent="0">
              <a:buNone/>
            </a:pPr>
            <a:r>
              <a:rPr lang="en-IN" dirty="0"/>
              <a:t>Extract and process information from medical documents. </a:t>
            </a:r>
          </a:p>
          <a:p>
            <a:pPr lvl="0"/>
            <a:r>
              <a:rPr lang="en-IN" dirty="0">
                <a:solidFill>
                  <a:schemeClr val="tx1"/>
                </a:solidFill>
              </a:rPr>
              <a:t>Eligibility Analysis </a:t>
            </a:r>
          </a:p>
          <a:p>
            <a:pPr marL="457200" lvl="1" indent="0">
              <a:buNone/>
            </a:pPr>
            <a:r>
              <a:rPr lang="en-IN" dirty="0"/>
              <a:t>Compare claim and treatment information with policy requirements. </a:t>
            </a:r>
          </a:p>
          <a:p>
            <a:pPr lvl="0"/>
            <a:r>
              <a:rPr lang="en-IN" dirty="0">
                <a:solidFill>
                  <a:schemeClr val="tx1"/>
                </a:solidFill>
              </a:rPr>
              <a:t>Fraud Detection </a:t>
            </a:r>
          </a:p>
          <a:p>
            <a:pPr marL="457200" lvl="1" indent="0">
              <a:buNone/>
            </a:pPr>
            <a:r>
              <a:rPr lang="en-IN" dirty="0" err="1"/>
              <a:t>Analyze</a:t>
            </a:r>
            <a:r>
              <a:rPr lang="en-IN" dirty="0"/>
              <a:t> claim patterns and identify potential risks</a:t>
            </a: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Methodology/Modeling Plan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BEE230-EA81-025F-5BF9-C5E46A574BC1}"/>
              </a:ext>
            </a:extLst>
          </p:cNvPr>
          <p:cNvSpPr>
            <a:spLocks noGrp="1"/>
          </p:cNvSpPr>
          <p:nvPr>
            <p:ph type="body" sz="quarter" idx="13"/>
          </p:nvPr>
        </p:nvSpPr>
        <p:spPr/>
        <p:txBody>
          <a:bodyPr/>
          <a:lstStyle/>
          <a:p>
            <a:pPr lvl="0"/>
            <a:r>
              <a:rPr lang="en-IN" b="0" dirty="0">
                <a:solidFill>
                  <a:schemeClr val="tx1"/>
                </a:solidFill>
              </a:rPr>
              <a:t>Health insurance claim processing can be complex and time-consuming. </a:t>
            </a:r>
          </a:p>
          <a:p>
            <a:pPr lvl="0"/>
            <a:r>
              <a:rPr lang="en-IN" b="0" dirty="0">
                <a:solidFill>
                  <a:schemeClr val="tx1"/>
                </a:solidFill>
              </a:rPr>
              <a:t>Manual verification of medical documents requires significant effort. </a:t>
            </a:r>
          </a:p>
          <a:p>
            <a:pPr lvl="0"/>
            <a:r>
              <a:rPr lang="en-IN" b="0" dirty="0">
                <a:solidFill>
                  <a:schemeClr val="tx1"/>
                </a:solidFill>
              </a:rPr>
              <a:t>Users may not clearly understand policy eligibility and coverage. </a:t>
            </a:r>
          </a:p>
          <a:p>
            <a:pPr lvl="0"/>
            <a:r>
              <a:rPr lang="en-IN" b="0" dirty="0">
                <a:solidFill>
                  <a:schemeClr val="tx1"/>
                </a:solidFill>
              </a:rPr>
              <a:t>Large numbers of claims make manual fraud identification difficult. </a:t>
            </a:r>
          </a:p>
          <a:p>
            <a:pPr lvl="0"/>
            <a:r>
              <a:rPr lang="en-IN" b="0" dirty="0">
                <a:solidFill>
                  <a:schemeClr val="tx1"/>
                </a:solidFill>
              </a:rPr>
              <a:t>Patients may have difficulty selecting a suitable hospital or doctor for a treatment. </a:t>
            </a:r>
          </a:p>
          <a:p>
            <a:pPr lvl="0"/>
            <a:r>
              <a:rPr lang="en-IN" b="0" dirty="0">
                <a:solidFill>
                  <a:schemeClr val="tx1"/>
                </a:solidFill>
              </a:rPr>
              <a:t>Claim status information may be scattered across different channels. </a:t>
            </a:r>
          </a:p>
          <a:p>
            <a:pPr lvl="0"/>
            <a:r>
              <a:rPr lang="en-IN" b="0" dirty="0">
                <a:solidFill>
                  <a:schemeClr val="tx1"/>
                </a:solidFill>
              </a:rPr>
              <a:t>Existing systems often handle claim processing, fraud detection, and healthcare recommendations separately.</a:t>
            </a:r>
          </a:p>
          <a:p>
            <a:endParaRPr lang="en-IN" dirty="0">
              <a:solidFill>
                <a:schemeClr val="tx1"/>
              </a:solidFill>
            </a:endParaRPr>
          </a:p>
        </p:txBody>
      </p:sp>
      <p:sp>
        <p:nvSpPr>
          <p:cNvPr id="3" name="Text Placeholder 2">
            <a:extLst>
              <a:ext uri="{FF2B5EF4-FFF2-40B4-BE49-F238E27FC236}">
                <a16:creationId xmlns:a16="http://schemas.microsoft.com/office/drawing/2014/main" id="{65CD66A2-1ACF-2552-C2B0-02F0225FF0F2}"/>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Problem Statement</a:t>
            </a:r>
          </a:p>
        </p:txBody>
      </p:sp>
    </p:spTree>
    <p:extLst>
      <p:ext uri="{BB962C8B-B14F-4D97-AF65-F5344CB8AC3E}">
        <p14:creationId xmlns:p14="http://schemas.microsoft.com/office/powerpoint/2010/main" val="2149759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5D3230-E73A-F832-98A4-625F53A6C4C5}"/>
              </a:ext>
            </a:extLst>
          </p:cNvPr>
          <p:cNvSpPr>
            <a:spLocks noGrp="1"/>
          </p:cNvSpPr>
          <p:nvPr>
            <p:ph type="body" sz="quarter" idx="13"/>
          </p:nvPr>
        </p:nvSpPr>
        <p:spPr/>
        <p:txBody>
          <a:bodyPr/>
          <a:lstStyle/>
          <a:p>
            <a:endParaRPr lang="en-IN" dirty="0"/>
          </a:p>
        </p:txBody>
      </p:sp>
      <p:sp>
        <p:nvSpPr>
          <p:cNvPr id="3" name="Text Placeholder 2">
            <a:extLst>
              <a:ext uri="{FF2B5EF4-FFF2-40B4-BE49-F238E27FC236}">
                <a16:creationId xmlns:a16="http://schemas.microsoft.com/office/drawing/2014/main" id="{4AFAF412-0811-22D1-D1EB-F89AE3DBC937}"/>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Approach / Algorithms / Tools</a:t>
            </a:r>
          </a:p>
        </p:txBody>
      </p:sp>
      <p:graphicFrame>
        <p:nvGraphicFramePr>
          <p:cNvPr id="4" name="Table 3">
            <a:extLst>
              <a:ext uri="{FF2B5EF4-FFF2-40B4-BE49-F238E27FC236}">
                <a16:creationId xmlns:a16="http://schemas.microsoft.com/office/drawing/2014/main" id="{BDD261EC-51E0-BDDB-DAFB-2D74E4082852}"/>
              </a:ext>
            </a:extLst>
          </p:cNvPr>
          <p:cNvGraphicFramePr>
            <a:graphicFrameLocks noGrp="1"/>
          </p:cNvGraphicFramePr>
          <p:nvPr>
            <p:extLst>
              <p:ext uri="{D42A27DB-BD31-4B8C-83A1-F6EECF244321}">
                <p14:modId xmlns:p14="http://schemas.microsoft.com/office/powerpoint/2010/main" val="404444238"/>
              </p:ext>
            </p:extLst>
          </p:nvPr>
        </p:nvGraphicFramePr>
        <p:xfrm>
          <a:off x="457200" y="1176494"/>
          <a:ext cx="10874496" cy="4825688"/>
        </p:xfrm>
        <a:graphic>
          <a:graphicData uri="http://schemas.openxmlformats.org/drawingml/2006/table">
            <a:tbl>
              <a:tblPr>
                <a:tableStyleId>{5C22544A-7EE6-4342-B048-85BDC9FD1C3A}</a:tableStyleId>
              </a:tblPr>
              <a:tblGrid>
                <a:gridCol w="3624832">
                  <a:extLst>
                    <a:ext uri="{9D8B030D-6E8A-4147-A177-3AD203B41FA5}">
                      <a16:colId xmlns:a16="http://schemas.microsoft.com/office/drawing/2014/main" val="1564527616"/>
                    </a:ext>
                  </a:extLst>
                </a:gridCol>
                <a:gridCol w="3624832">
                  <a:extLst>
                    <a:ext uri="{9D8B030D-6E8A-4147-A177-3AD203B41FA5}">
                      <a16:colId xmlns:a16="http://schemas.microsoft.com/office/drawing/2014/main" val="3219336080"/>
                    </a:ext>
                  </a:extLst>
                </a:gridCol>
                <a:gridCol w="3624832">
                  <a:extLst>
                    <a:ext uri="{9D8B030D-6E8A-4147-A177-3AD203B41FA5}">
                      <a16:colId xmlns:a16="http://schemas.microsoft.com/office/drawing/2014/main" val="4202652172"/>
                    </a:ext>
                  </a:extLst>
                </a:gridCol>
              </a:tblGrid>
              <a:tr h="306171">
                <a:tc>
                  <a:txBody>
                    <a:bodyPr/>
                    <a:lstStyle/>
                    <a:p>
                      <a:pPr>
                        <a:buNone/>
                      </a:pPr>
                      <a:r>
                        <a:rPr lang="en-IN" sz="1700"/>
                        <a:t>Approach</a:t>
                      </a:r>
                    </a:p>
                  </a:txBody>
                  <a:tcPr marL="85612" marR="85612" marT="42806" marB="42806" anchor="ctr"/>
                </a:tc>
                <a:tc>
                  <a:txBody>
                    <a:bodyPr/>
                    <a:lstStyle/>
                    <a:p>
                      <a:pPr>
                        <a:buNone/>
                      </a:pPr>
                      <a:r>
                        <a:rPr lang="en-IN" sz="1700"/>
                        <a:t>Algorithms / Techniques</a:t>
                      </a:r>
                    </a:p>
                  </a:txBody>
                  <a:tcPr marL="85612" marR="85612" marT="42806" marB="42806" anchor="ctr"/>
                </a:tc>
                <a:tc>
                  <a:txBody>
                    <a:bodyPr/>
                    <a:lstStyle/>
                    <a:p>
                      <a:pPr>
                        <a:buNone/>
                      </a:pPr>
                      <a:r>
                        <a:rPr lang="en-IN" sz="1700"/>
                        <a:t>Tools / Technologies</a:t>
                      </a:r>
                    </a:p>
                  </a:txBody>
                  <a:tcPr marL="85612" marR="85612" marT="42806" marB="42806" anchor="ctr"/>
                </a:tc>
                <a:extLst>
                  <a:ext uri="{0D108BD9-81ED-4DB2-BD59-A6C34878D82A}">
                    <a16:rowId xmlns:a16="http://schemas.microsoft.com/office/drawing/2014/main" val="2057339387"/>
                  </a:ext>
                </a:extLst>
              </a:tr>
              <a:tr h="306171">
                <a:tc>
                  <a:txBody>
                    <a:bodyPr/>
                    <a:lstStyle/>
                    <a:p>
                      <a:pPr>
                        <a:buNone/>
                      </a:pPr>
                      <a:r>
                        <a:rPr lang="en-IN" sz="1700"/>
                        <a:t>Data Collection</a:t>
                      </a:r>
                    </a:p>
                  </a:txBody>
                  <a:tcPr marL="85612" marR="85612" marT="42806" marB="42806" anchor="ctr"/>
                </a:tc>
                <a:tc>
                  <a:txBody>
                    <a:bodyPr/>
                    <a:lstStyle/>
                    <a:p>
                      <a:pPr>
                        <a:buNone/>
                      </a:pPr>
                      <a:r>
                        <a:rPr lang="en-IN" sz="1700"/>
                        <a:t>Data Integration</a:t>
                      </a:r>
                    </a:p>
                  </a:txBody>
                  <a:tcPr marL="85612" marR="85612" marT="42806" marB="42806" anchor="ctr"/>
                </a:tc>
                <a:tc>
                  <a:txBody>
                    <a:bodyPr/>
                    <a:lstStyle/>
                    <a:p>
                      <a:pPr>
                        <a:buNone/>
                      </a:pPr>
                      <a:r>
                        <a:rPr lang="en-IN" sz="1700"/>
                        <a:t>Python</a:t>
                      </a:r>
                    </a:p>
                  </a:txBody>
                  <a:tcPr marL="85612" marR="85612" marT="42806" marB="42806" anchor="ctr"/>
                </a:tc>
                <a:extLst>
                  <a:ext uri="{0D108BD9-81ED-4DB2-BD59-A6C34878D82A}">
                    <a16:rowId xmlns:a16="http://schemas.microsoft.com/office/drawing/2014/main" val="1301766778"/>
                  </a:ext>
                </a:extLst>
              </a:tr>
              <a:tr h="306171">
                <a:tc>
                  <a:txBody>
                    <a:bodyPr/>
                    <a:lstStyle/>
                    <a:p>
                      <a:pPr>
                        <a:buNone/>
                      </a:pPr>
                      <a:r>
                        <a:rPr lang="en-IN" sz="1700"/>
                        <a:t>Data Preprocessing</a:t>
                      </a:r>
                    </a:p>
                  </a:txBody>
                  <a:tcPr marL="85612" marR="85612" marT="42806" marB="42806" anchor="ctr"/>
                </a:tc>
                <a:tc>
                  <a:txBody>
                    <a:bodyPr/>
                    <a:lstStyle/>
                    <a:p>
                      <a:pPr>
                        <a:buNone/>
                      </a:pPr>
                      <a:r>
                        <a:rPr lang="en-IN" sz="1700"/>
                        <a:t>Cleaning &amp; Normalization</a:t>
                      </a:r>
                    </a:p>
                  </a:txBody>
                  <a:tcPr marL="85612" marR="85612" marT="42806" marB="42806" anchor="ctr"/>
                </a:tc>
                <a:tc>
                  <a:txBody>
                    <a:bodyPr/>
                    <a:lstStyle/>
                    <a:p>
                      <a:pPr>
                        <a:buNone/>
                      </a:pPr>
                      <a:r>
                        <a:rPr lang="en-IN" sz="1700"/>
                        <a:t>Pandas, NumPy</a:t>
                      </a:r>
                    </a:p>
                  </a:txBody>
                  <a:tcPr marL="85612" marR="85612" marT="42806" marB="42806" anchor="ctr"/>
                </a:tc>
                <a:extLst>
                  <a:ext uri="{0D108BD9-81ED-4DB2-BD59-A6C34878D82A}">
                    <a16:rowId xmlns:a16="http://schemas.microsoft.com/office/drawing/2014/main" val="1433779034"/>
                  </a:ext>
                </a:extLst>
              </a:tr>
              <a:tr h="306171">
                <a:tc>
                  <a:txBody>
                    <a:bodyPr/>
                    <a:lstStyle/>
                    <a:p>
                      <a:pPr>
                        <a:buNone/>
                      </a:pPr>
                      <a:r>
                        <a:rPr lang="en-IN" sz="1700"/>
                        <a:t>EDA</a:t>
                      </a:r>
                    </a:p>
                  </a:txBody>
                  <a:tcPr marL="85612" marR="85612" marT="42806" marB="42806" anchor="ctr"/>
                </a:tc>
                <a:tc>
                  <a:txBody>
                    <a:bodyPr/>
                    <a:lstStyle/>
                    <a:p>
                      <a:pPr>
                        <a:buNone/>
                      </a:pPr>
                      <a:r>
                        <a:rPr lang="en-IN" sz="1700"/>
                        <a:t>Statistical Analysis</a:t>
                      </a:r>
                    </a:p>
                  </a:txBody>
                  <a:tcPr marL="85612" marR="85612" marT="42806" marB="42806" anchor="ctr"/>
                </a:tc>
                <a:tc>
                  <a:txBody>
                    <a:bodyPr/>
                    <a:lstStyle/>
                    <a:p>
                      <a:pPr>
                        <a:buNone/>
                      </a:pPr>
                      <a:r>
                        <a:rPr lang="en-IN" sz="1700"/>
                        <a:t>Matplotlib</a:t>
                      </a:r>
                    </a:p>
                  </a:txBody>
                  <a:tcPr marL="85612" marR="85612" marT="42806" marB="42806" anchor="ctr"/>
                </a:tc>
                <a:extLst>
                  <a:ext uri="{0D108BD9-81ED-4DB2-BD59-A6C34878D82A}">
                    <a16:rowId xmlns:a16="http://schemas.microsoft.com/office/drawing/2014/main" val="1529008193"/>
                  </a:ext>
                </a:extLst>
              </a:tr>
              <a:tr h="306171">
                <a:tc>
                  <a:txBody>
                    <a:bodyPr/>
                    <a:lstStyle/>
                    <a:p>
                      <a:pPr>
                        <a:buNone/>
                      </a:pPr>
                      <a:r>
                        <a:rPr lang="en-IN" sz="1700"/>
                        <a:t>Claim Analysis</a:t>
                      </a:r>
                    </a:p>
                  </a:txBody>
                  <a:tcPr marL="85612" marR="85612" marT="42806" marB="42806" anchor="ctr"/>
                </a:tc>
                <a:tc>
                  <a:txBody>
                    <a:bodyPr/>
                    <a:lstStyle/>
                    <a:p>
                      <a:pPr>
                        <a:buNone/>
                      </a:pPr>
                      <a:r>
                        <a:rPr lang="en-IN" sz="1700"/>
                        <a:t>Classification / Risk Analysis</a:t>
                      </a:r>
                    </a:p>
                  </a:txBody>
                  <a:tcPr marL="85612" marR="85612" marT="42806" marB="42806" anchor="ctr"/>
                </a:tc>
                <a:tc>
                  <a:txBody>
                    <a:bodyPr/>
                    <a:lstStyle/>
                    <a:p>
                      <a:pPr>
                        <a:buNone/>
                      </a:pPr>
                      <a:r>
                        <a:rPr lang="en-IN" sz="1700"/>
                        <a:t>Scikit-learn</a:t>
                      </a:r>
                    </a:p>
                  </a:txBody>
                  <a:tcPr marL="85612" marR="85612" marT="42806" marB="42806" anchor="ctr"/>
                </a:tc>
                <a:extLst>
                  <a:ext uri="{0D108BD9-81ED-4DB2-BD59-A6C34878D82A}">
                    <a16:rowId xmlns:a16="http://schemas.microsoft.com/office/drawing/2014/main" val="2312168183"/>
                  </a:ext>
                </a:extLst>
              </a:tr>
              <a:tr h="306171">
                <a:tc>
                  <a:txBody>
                    <a:bodyPr/>
                    <a:lstStyle/>
                    <a:p>
                      <a:pPr>
                        <a:buNone/>
                      </a:pPr>
                      <a:r>
                        <a:rPr lang="en-IN" sz="1700"/>
                        <a:t>Eligibility Checking</a:t>
                      </a:r>
                    </a:p>
                  </a:txBody>
                  <a:tcPr marL="85612" marR="85612" marT="42806" marB="42806" anchor="ctr"/>
                </a:tc>
                <a:tc>
                  <a:txBody>
                    <a:bodyPr/>
                    <a:lstStyle/>
                    <a:p>
                      <a:pPr>
                        <a:buNone/>
                      </a:pPr>
                      <a:r>
                        <a:rPr lang="en-IN" sz="1700"/>
                        <a:t>Rule-Based Analysis</a:t>
                      </a:r>
                    </a:p>
                  </a:txBody>
                  <a:tcPr marL="85612" marR="85612" marT="42806" marB="42806" anchor="ctr"/>
                </a:tc>
                <a:tc>
                  <a:txBody>
                    <a:bodyPr/>
                    <a:lstStyle/>
                    <a:p>
                      <a:pPr>
                        <a:buNone/>
                      </a:pPr>
                      <a:r>
                        <a:rPr lang="en-IN" sz="1700"/>
                        <a:t>Python</a:t>
                      </a:r>
                    </a:p>
                  </a:txBody>
                  <a:tcPr marL="85612" marR="85612" marT="42806" marB="42806" anchor="ctr"/>
                </a:tc>
                <a:extLst>
                  <a:ext uri="{0D108BD9-81ED-4DB2-BD59-A6C34878D82A}">
                    <a16:rowId xmlns:a16="http://schemas.microsoft.com/office/drawing/2014/main" val="1373178741"/>
                  </a:ext>
                </a:extLst>
              </a:tr>
              <a:tr h="306171">
                <a:tc>
                  <a:txBody>
                    <a:bodyPr/>
                    <a:lstStyle/>
                    <a:p>
                      <a:pPr>
                        <a:buNone/>
                      </a:pPr>
                      <a:r>
                        <a:rPr lang="en-IN" sz="1700"/>
                        <a:t>Fraud Detection</a:t>
                      </a:r>
                    </a:p>
                  </a:txBody>
                  <a:tcPr marL="85612" marR="85612" marT="42806" marB="42806" anchor="ctr"/>
                </a:tc>
                <a:tc>
                  <a:txBody>
                    <a:bodyPr/>
                    <a:lstStyle/>
                    <a:p>
                      <a:pPr>
                        <a:buNone/>
                      </a:pPr>
                      <a:r>
                        <a:rPr lang="en-IN" sz="1700"/>
                        <a:t>Machine Learning Classification</a:t>
                      </a:r>
                    </a:p>
                  </a:txBody>
                  <a:tcPr marL="85612" marR="85612" marT="42806" marB="42806" anchor="ctr"/>
                </a:tc>
                <a:tc>
                  <a:txBody>
                    <a:bodyPr/>
                    <a:lstStyle/>
                    <a:p>
                      <a:pPr>
                        <a:buNone/>
                      </a:pPr>
                      <a:r>
                        <a:rPr lang="en-IN" sz="1700"/>
                        <a:t>Scikit-learn</a:t>
                      </a:r>
                    </a:p>
                  </a:txBody>
                  <a:tcPr marL="85612" marR="85612" marT="42806" marB="42806" anchor="ctr"/>
                </a:tc>
                <a:extLst>
                  <a:ext uri="{0D108BD9-81ED-4DB2-BD59-A6C34878D82A}">
                    <a16:rowId xmlns:a16="http://schemas.microsoft.com/office/drawing/2014/main" val="499719880"/>
                  </a:ext>
                </a:extLst>
              </a:tr>
              <a:tr h="306171">
                <a:tc>
                  <a:txBody>
                    <a:bodyPr/>
                    <a:lstStyle/>
                    <a:p>
                      <a:pPr>
                        <a:buNone/>
                      </a:pPr>
                      <a:r>
                        <a:rPr lang="en-IN" sz="1700"/>
                        <a:t>Document Processing</a:t>
                      </a:r>
                    </a:p>
                  </a:txBody>
                  <a:tcPr marL="85612" marR="85612" marT="42806" marB="42806" anchor="ctr"/>
                </a:tc>
                <a:tc>
                  <a:txBody>
                    <a:bodyPr/>
                    <a:lstStyle/>
                    <a:p>
                      <a:pPr>
                        <a:buNone/>
                      </a:pPr>
                      <a:r>
                        <a:rPr lang="en-IN" sz="1700"/>
                        <a:t>Text Extraction</a:t>
                      </a:r>
                    </a:p>
                  </a:txBody>
                  <a:tcPr marL="85612" marR="85612" marT="42806" marB="42806" anchor="ctr"/>
                </a:tc>
                <a:tc>
                  <a:txBody>
                    <a:bodyPr/>
                    <a:lstStyle/>
                    <a:p>
                      <a:pPr>
                        <a:buNone/>
                      </a:pPr>
                      <a:r>
                        <a:rPr lang="en-IN" sz="1700"/>
                        <a:t>PDF/DOCX Processing</a:t>
                      </a:r>
                    </a:p>
                  </a:txBody>
                  <a:tcPr marL="85612" marR="85612" marT="42806" marB="42806" anchor="ctr"/>
                </a:tc>
                <a:extLst>
                  <a:ext uri="{0D108BD9-81ED-4DB2-BD59-A6C34878D82A}">
                    <a16:rowId xmlns:a16="http://schemas.microsoft.com/office/drawing/2014/main" val="1008923348"/>
                  </a:ext>
                </a:extLst>
              </a:tr>
              <a:tr h="306171">
                <a:tc>
                  <a:txBody>
                    <a:bodyPr/>
                    <a:lstStyle/>
                    <a:p>
                      <a:pPr>
                        <a:buNone/>
                      </a:pPr>
                      <a:r>
                        <a:rPr lang="en-IN" sz="1700"/>
                        <a:t>Provider Recommendation</a:t>
                      </a:r>
                    </a:p>
                  </a:txBody>
                  <a:tcPr marL="85612" marR="85612" marT="42806" marB="42806" anchor="ctr"/>
                </a:tc>
                <a:tc>
                  <a:txBody>
                    <a:bodyPr/>
                    <a:lstStyle/>
                    <a:p>
                      <a:pPr>
                        <a:buNone/>
                      </a:pPr>
                      <a:r>
                        <a:rPr lang="en-IN" sz="1700"/>
                        <a:t>Location &amp; Specialty Matching</a:t>
                      </a:r>
                    </a:p>
                  </a:txBody>
                  <a:tcPr marL="85612" marR="85612" marT="42806" marB="42806" anchor="ctr"/>
                </a:tc>
                <a:tc>
                  <a:txBody>
                    <a:bodyPr/>
                    <a:lstStyle/>
                    <a:p>
                      <a:pPr>
                        <a:buNone/>
                      </a:pPr>
                      <a:r>
                        <a:rPr lang="en-IN" sz="1700"/>
                        <a:t>Python</a:t>
                      </a:r>
                    </a:p>
                  </a:txBody>
                  <a:tcPr marL="85612" marR="85612" marT="42806" marB="42806" anchor="ctr"/>
                </a:tc>
                <a:extLst>
                  <a:ext uri="{0D108BD9-81ED-4DB2-BD59-A6C34878D82A}">
                    <a16:rowId xmlns:a16="http://schemas.microsoft.com/office/drawing/2014/main" val="2470957355"/>
                  </a:ext>
                </a:extLst>
              </a:tr>
              <a:tr h="306171">
                <a:tc>
                  <a:txBody>
                    <a:bodyPr/>
                    <a:lstStyle/>
                    <a:p>
                      <a:pPr>
                        <a:buNone/>
                      </a:pPr>
                      <a:r>
                        <a:rPr lang="en-IN" sz="1700"/>
                        <a:t>AI Assistance</a:t>
                      </a:r>
                    </a:p>
                  </a:txBody>
                  <a:tcPr marL="85612" marR="85612" marT="42806" marB="42806" anchor="ctr"/>
                </a:tc>
                <a:tc>
                  <a:txBody>
                    <a:bodyPr/>
                    <a:lstStyle/>
                    <a:p>
                      <a:pPr>
                        <a:buNone/>
                      </a:pPr>
                      <a:r>
                        <a:rPr lang="en-IN" sz="1700"/>
                        <a:t>RAG</a:t>
                      </a:r>
                    </a:p>
                  </a:txBody>
                  <a:tcPr marL="85612" marR="85612" marT="42806" marB="42806" anchor="ctr"/>
                </a:tc>
                <a:tc>
                  <a:txBody>
                    <a:bodyPr/>
                    <a:lstStyle/>
                    <a:p>
                      <a:pPr>
                        <a:buNone/>
                      </a:pPr>
                      <a:r>
                        <a:rPr lang="en-IN" sz="1700"/>
                        <a:t>Python</a:t>
                      </a:r>
                    </a:p>
                  </a:txBody>
                  <a:tcPr marL="85612" marR="85612" marT="42806" marB="42806" anchor="ctr"/>
                </a:tc>
                <a:extLst>
                  <a:ext uri="{0D108BD9-81ED-4DB2-BD59-A6C34878D82A}">
                    <a16:rowId xmlns:a16="http://schemas.microsoft.com/office/drawing/2014/main" val="254770295"/>
                  </a:ext>
                </a:extLst>
              </a:tr>
              <a:tr h="306171">
                <a:tc>
                  <a:txBody>
                    <a:bodyPr/>
                    <a:lstStyle/>
                    <a:p>
                      <a:pPr>
                        <a:buNone/>
                      </a:pPr>
                      <a:r>
                        <a:rPr lang="en-IN" sz="1700"/>
                        <a:t>AI Response Generation</a:t>
                      </a:r>
                    </a:p>
                  </a:txBody>
                  <a:tcPr marL="85612" marR="85612" marT="42806" marB="42806" anchor="ctr"/>
                </a:tc>
                <a:tc>
                  <a:txBody>
                    <a:bodyPr/>
                    <a:lstStyle/>
                    <a:p>
                      <a:pPr>
                        <a:buNone/>
                      </a:pPr>
                      <a:r>
                        <a:rPr lang="en-IN" sz="1700"/>
                        <a:t>LLM</a:t>
                      </a:r>
                    </a:p>
                  </a:txBody>
                  <a:tcPr marL="85612" marR="85612" marT="42806" marB="42806" anchor="ctr"/>
                </a:tc>
                <a:tc>
                  <a:txBody>
                    <a:bodyPr/>
                    <a:lstStyle/>
                    <a:p>
                      <a:pPr>
                        <a:buNone/>
                      </a:pPr>
                      <a:r>
                        <a:rPr lang="en-IN" sz="1700"/>
                        <a:t>Groq API</a:t>
                      </a:r>
                    </a:p>
                  </a:txBody>
                  <a:tcPr marL="85612" marR="85612" marT="42806" marB="42806" anchor="ctr"/>
                </a:tc>
                <a:extLst>
                  <a:ext uri="{0D108BD9-81ED-4DB2-BD59-A6C34878D82A}">
                    <a16:rowId xmlns:a16="http://schemas.microsoft.com/office/drawing/2014/main" val="2623771840"/>
                  </a:ext>
                </a:extLst>
              </a:tr>
              <a:tr h="306171">
                <a:tc>
                  <a:txBody>
                    <a:bodyPr/>
                    <a:lstStyle/>
                    <a:p>
                      <a:pPr>
                        <a:buNone/>
                      </a:pPr>
                      <a:r>
                        <a:rPr lang="en-IN" sz="1700"/>
                        <a:t>Backend</a:t>
                      </a:r>
                    </a:p>
                  </a:txBody>
                  <a:tcPr marL="85612" marR="85612" marT="42806" marB="42806" anchor="ctr"/>
                </a:tc>
                <a:tc>
                  <a:txBody>
                    <a:bodyPr/>
                    <a:lstStyle/>
                    <a:p>
                      <a:pPr>
                        <a:buNone/>
                      </a:pPr>
                      <a:r>
                        <a:rPr lang="en-IN" sz="1700"/>
                        <a:t>REST API</a:t>
                      </a:r>
                    </a:p>
                  </a:txBody>
                  <a:tcPr marL="85612" marR="85612" marT="42806" marB="42806" anchor="ctr"/>
                </a:tc>
                <a:tc>
                  <a:txBody>
                    <a:bodyPr/>
                    <a:lstStyle/>
                    <a:p>
                      <a:pPr>
                        <a:buNone/>
                      </a:pPr>
                      <a:r>
                        <a:rPr lang="en-IN" sz="1700"/>
                        <a:t>FastAPI</a:t>
                      </a:r>
                    </a:p>
                  </a:txBody>
                  <a:tcPr marL="85612" marR="85612" marT="42806" marB="42806" anchor="ctr"/>
                </a:tc>
                <a:extLst>
                  <a:ext uri="{0D108BD9-81ED-4DB2-BD59-A6C34878D82A}">
                    <a16:rowId xmlns:a16="http://schemas.microsoft.com/office/drawing/2014/main" val="2376482195"/>
                  </a:ext>
                </a:extLst>
              </a:tr>
              <a:tr h="306171">
                <a:tc>
                  <a:txBody>
                    <a:bodyPr/>
                    <a:lstStyle/>
                    <a:p>
                      <a:pPr>
                        <a:buNone/>
                      </a:pPr>
                      <a:r>
                        <a:rPr lang="en-IN" sz="1700"/>
                        <a:t>Frontend</a:t>
                      </a:r>
                    </a:p>
                  </a:txBody>
                  <a:tcPr marL="85612" marR="85612" marT="42806" marB="42806" anchor="ctr"/>
                </a:tc>
                <a:tc>
                  <a:txBody>
                    <a:bodyPr/>
                    <a:lstStyle/>
                    <a:p>
                      <a:pPr>
                        <a:buNone/>
                      </a:pPr>
                      <a:r>
                        <a:rPr lang="en-IN" sz="1700"/>
                        <a:t>Component-Based UI</a:t>
                      </a:r>
                    </a:p>
                  </a:txBody>
                  <a:tcPr marL="85612" marR="85612" marT="42806" marB="42806" anchor="ctr"/>
                </a:tc>
                <a:tc>
                  <a:txBody>
                    <a:bodyPr/>
                    <a:lstStyle/>
                    <a:p>
                      <a:pPr>
                        <a:buNone/>
                      </a:pPr>
                      <a:r>
                        <a:rPr lang="en-IN" sz="1700"/>
                        <a:t>React.js</a:t>
                      </a:r>
                    </a:p>
                  </a:txBody>
                  <a:tcPr marL="85612" marR="85612" marT="42806" marB="42806" anchor="ctr"/>
                </a:tc>
                <a:extLst>
                  <a:ext uri="{0D108BD9-81ED-4DB2-BD59-A6C34878D82A}">
                    <a16:rowId xmlns:a16="http://schemas.microsoft.com/office/drawing/2014/main" val="1295912466"/>
                  </a:ext>
                </a:extLst>
              </a:tr>
              <a:tr h="306171">
                <a:tc>
                  <a:txBody>
                    <a:bodyPr/>
                    <a:lstStyle/>
                    <a:p>
                      <a:pPr>
                        <a:buNone/>
                      </a:pPr>
                      <a:r>
                        <a:rPr lang="en-IN" sz="1700"/>
                        <a:t>Data Storage</a:t>
                      </a:r>
                    </a:p>
                  </a:txBody>
                  <a:tcPr marL="85612" marR="85612" marT="42806" marB="42806" anchor="ctr"/>
                </a:tc>
                <a:tc>
                  <a:txBody>
                    <a:bodyPr/>
                    <a:lstStyle/>
                    <a:p>
                      <a:pPr>
                        <a:buNone/>
                      </a:pPr>
                      <a:r>
                        <a:rPr lang="en-IN" sz="1700"/>
                        <a:t>Structured Data Storage</a:t>
                      </a:r>
                    </a:p>
                  </a:txBody>
                  <a:tcPr marL="85612" marR="85612" marT="42806" marB="42806" anchor="ctr"/>
                </a:tc>
                <a:tc>
                  <a:txBody>
                    <a:bodyPr/>
                    <a:lstStyle/>
                    <a:p>
                      <a:pPr>
                        <a:buNone/>
                      </a:pPr>
                      <a:r>
                        <a:rPr lang="en-IN" sz="1700" dirty="0"/>
                        <a:t>Excel / CSV</a:t>
                      </a:r>
                    </a:p>
                  </a:txBody>
                  <a:tcPr marL="85612" marR="85612" marT="42806" marB="42806" anchor="ctr"/>
                </a:tc>
                <a:extLst>
                  <a:ext uri="{0D108BD9-81ED-4DB2-BD59-A6C34878D82A}">
                    <a16:rowId xmlns:a16="http://schemas.microsoft.com/office/drawing/2014/main" val="998906300"/>
                  </a:ext>
                </a:extLst>
              </a:tr>
            </a:tbl>
          </a:graphicData>
        </a:graphic>
      </p:graphicFrame>
    </p:spTree>
    <p:extLst>
      <p:ext uri="{BB962C8B-B14F-4D97-AF65-F5344CB8AC3E}">
        <p14:creationId xmlns:p14="http://schemas.microsoft.com/office/powerpoint/2010/main" val="3124857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marL="0" lvl="0" indent="0" fontAlgn="t">
              <a:buNone/>
            </a:pPr>
            <a:r>
              <a:rPr lang="en-US" dirty="0">
                <a:solidFill>
                  <a:srgbClr val="5B9BD5">
                    <a:lumMod val="50000"/>
                  </a:srgbClr>
                </a:solidFill>
              </a:rPr>
              <a:t>Data preprocessing</a:t>
            </a:r>
            <a:endParaRPr lang="en-IN" b="0" dirty="0"/>
          </a:p>
          <a:p>
            <a:pPr marL="342900" lvl="0" indent="-342900" fontAlgn="t"/>
            <a:r>
              <a:rPr lang="en-IN" b="0" dirty="0"/>
              <a:t>Remove duplicate and inconsistent records.</a:t>
            </a:r>
          </a:p>
          <a:p>
            <a:pPr marL="342900" lvl="0" indent="-342900" fontAlgn="t"/>
            <a:r>
              <a:rPr lang="en-IN" b="0" dirty="0"/>
              <a:t>Handle missing values in claim data.</a:t>
            </a:r>
          </a:p>
          <a:p>
            <a:pPr marL="342900" lvl="0" indent="-342900" fontAlgn="t"/>
            <a:r>
              <a:rPr lang="en-IN" b="0" dirty="0"/>
              <a:t>Clean and standardize policy and medical information.</a:t>
            </a:r>
          </a:p>
          <a:p>
            <a:pPr marL="342900" lvl="0" indent="-342900" fontAlgn="t"/>
            <a:r>
              <a:rPr lang="en-IN" b="0" dirty="0"/>
              <a:t>Convert categorical data into a suitable format.</a:t>
            </a:r>
          </a:p>
          <a:p>
            <a:pPr marL="342900" lvl="0" indent="-342900" fontAlgn="t"/>
            <a:r>
              <a:rPr lang="en-IN" b="0" dirty="0"/>
              <a:t>Prepare structured data for claim analysis and AI agents.</a:t>
            </a:r>
          </a:p>
          <a:p>
            <a:pPr marL="342900" lvl="0" indent="-342900" fontAlgn="t"/>
            <a:r>
              <a:rPr lang="en-IN" b="0" dirty="0"/>
              <a:t>Normalize claim-related attributes.</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6BC9BA-2991-413D-7AAF-452B828997A4}"/>
              </a:ext>
            </a:extLst>
          </p:cNvPr>
          <p:cNvSpPr>
            <a:spLocks noGrp="1"/>
          </p:cNvSpPr>
          <p:nvPr>
            <p:ph type="body" sz="quarter" idx="13"/>
          </p:nvPr>
        </p:nvSpPr>
        <p:spPr/>
        <p:txBody>
          <a:bodyPr/>
          <a:lstStyle/>
          <a:p>
            <a:pPr lvl="0"/>
            <a:r>
              <a:rPr lang="en-IN" b="0" dirty="0">
                <a:solidFill>
                  <a:schemeClr val="tx1"/>
                </a:solidFill>
              </a:rPr>
              <a:t>The system can organize claim information into a structured workflow. </a:t>
            </a:r>
          </a:p>
          <a:p>
            <a:pPr lvl="0"/>
            <a:r>
              <a:rPr lang="en-IN" b="0" dirty="0">
                <a:solidFill>
                  <a:schemeClr val="tx1"/>
                </a:solidFill>
              </a:rPr>
              <a:t>Data preprocessing improves the consistency and quality of claim data. </a:t>
            </a:r>
          </a:p>
          <a:p>
            <a:pPr lvl="0"/>
            <a:r>
              <a:rPr lang="en-IN" b="0" dirty="0">
                <a:solidFill>
                  <a:schemeClr val="tx1"/>
                </a:solidFill>
              </a:rPr>
              <a:t>EDA helps identify claim patterns, treatment trends, and unusual records. </a:t>
            </a:r>
          </a:p>
          <a:p>
            <a:pPr lvl="0"/>
            <a:r>
              <a:rPr lang="en-IN" b="0" dirty="0">
                <a:solidFill>
                  <a:schemeClr val="tx1"/>
                </a:solidFill>
              </a:rPr>
              <a:t>Eligibility analysis helps determine whether a claim meets defined policy conditions. </a:t>
            </a:r>
          </a:p>
          <a:p>
            <a:pPr lvl="0"/>
            <a:r>
              <a:rPr lang="en-IN" b="0" dirty="0">
                <a:solidFill>
                  <a:schemeClr val="tx1"/>
                </a:solidFill>
              </a:rPr>
              <a:t>Fraud detection can be used to identify potentially suspicious claims for further review. </a:t>
            </a:r>
          </a:p>
          <a:p>
            <a:pPr lvl="0"/>
            <a:r>
              <a:rPr lang="en-IN" b="0" dirty="0">
                <a:solidFill>
                  <a:schemeClr val="tx1"/>
                </a:solidFill>
              </a:rPr>
              <a:t>Hospital and doctor data can be used to provide treatment-based recommendations.</a:t>
            </a:r>
          </a:p>
        </p:txBody>
      </p:sp>
      <p:sp>
        <p:nvSpPr>
          <p:cNvPr id="3" name="Text Placeholder 2">
            <a:extLst>
              <a:ext uri="{FF2B5EF4-FFF2-40B4-BE49-F238E27FC236}">
                <a16:creationId xmlns:a16="http://schemas.microsoft.com/office/drawing/2014/main" id="{BCBAC275-A5BB-B2C9-96AF-1A2D8D26FC12}"/>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Findings and Results</a:t>
            </a:r>
          </a:p>
        </p:txBody>
      </p:sp>
    </p:spTree>
    <p:extLst>
      <p:ext uri="{BB962C8B-B14F-4D97-AF65-F5344CB8AC3E}">
        <p14:creationId xmlns:p14="http://schemas.microsoft.com/office/powerpoint/2010/main" val="3281424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A058-E477-163A-1B3E-61A05B0F38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69BAD7-4402-029D-94EE-84728E7A1B97}"/>
              </a:ext>
            </a:extLst>
          </p:cNvPr>
          <p:cNvSpPr>
            <a:spLocks noGrp="1"/>
          </p:cNvSpPr>
          <p:nvPr>
            <p:ph type="body" sz="quarter" idx="13"/>
          </p:nvPr>
        </p:nvSpPr>
        <p:spPr>
          <a:xfrm>
            <a:off x="255996" y="1271219"/>
            <a:ext cx="10624338" cy="4142989"/>
          </a:xfrm>
        </p:spPr>
        <p:txBody>
          <a:bodyPr/>
          <a:lstStyle/>
          <a:p>
            <a:pPr marL="0" indent="0">
              <a:lnSpc>
                <a:spcPct val="150000"/>
              </a:lnSpc>
              <a:buNone/>
            </a:pPr>
            <a:r>
              <a:rPr lang="en-US" sz="2400" b="0" dirty="0">
                <a:solidFill>
                  <a:srgbClr val="5583D1"/>
                </a:solidFill>
                <a:latin typeface="+mn-lt"/>
              </a:rPr>
              <a:t>Calibri body 28</a:t>
            </a:r>
            <a:endParaRPr lang="en-US" sz="2400" b="0" dirty="0">
              <a:solidFill>
                <a:srgbClr val="5583D1"/>
              </a:solidFill>
            </a:endParaRPr>
          </a:p>
        </p:txBody>
      </p:sp>
      <p:sp>
        <p:nvSpPr>
          <p:cNvPr id="3" name="TextBox 2">
            <a:extLst>
              <a:ext uri="{FF2B5EF4-FFF2-40B4-BE49-F238E27FC236}">
                <a16:creationId xmlns:a16="http://schemas.microsoft.com/office/drawing/2014/main" id="{E8F67352-6E77-1E87-24B7-ED7906E0679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a:t>
            </a:r>
            <a:r>
              <a:rPr lang="fr-FR" sz="3600" b="1" dirty="0" err="1">
                <a:solidFill>
                  <a:srgbClr val="5B9BD5">
                    <a:lumMod val="50000"/>
                  </a:srgbClr>
                </a:solidFill>
              </a:rPr>
              <a:t>milestones</a:t>
            </a:r>
            <a:r>
              <a:rPr lang="fr-FR" sz="3600" b="1" dirty="0">
                <a:solidFill>
                  <a:srgbClr val="5B9BD5">
                    <a:lumMod val="50000"/>
                  </a:srgbClr>
                </a:solidFill>
              </a:rPr>
              <a:t>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64F4198-C244-16A7-B796-A2E4B5EA6A8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C6270217-BB6B-BCBF-069B-716FD930A9D8}"/>
              </a:ext>
            </a:extLst>
          </p:cNvPr>
          <p:cNvGraphicFramePr>
            <a:graphicFrameLocks noGrp="1"/>
          </p:cNvGraphicFramePr>
          <p:nvPr>
            <p:extLst>
              <p:ext uri="{D42A27DB-BD31-4B8C-83A1-F6EECF244321}">
                <p14:modId xmlns:p14="http://schemas.microsoft.com/office/powerpoint/2010/main" val="850304344"/>
              </p:ext>
            </p:extLst>
          </p:nvPr>
        </p:nvGraphicFramePr>
        <p:xfrm>
          <a:off x="404735" y="1257617"/>
          <a:ext cx="11277678" cy="4903330"/>
        </p:xfrm>
        <a:graphic>
          <a:graphicData uri="http://schemas.openxmlformats.org/drawingml/2006/table">
            <a:tbl>
              <a:tblPr>
                <a:tableStyleId>{5C22544A-7EE6-4342-B048-85BDC9FD1C3A}</a:tableStyleId>
              </a:tblPr>
              <a:tblGrid>
                <a:gridCol w="3759226">
                  <a:extLst>
                    <a:ext uri="{9D8B030D-6E8A-4147-A177-3AD203B41FA5}">
                      <a16:colId xmlns:a16="http://schemas.microsoft.com/office/drawing/2014/main" val="2258998021"/>
                    </a:ext>
                  </a:extLst>
                </a:gridCol>
                <a:gridCol w="3759226">
                  <a:extLst>
                    <a:ext uri="{9D8B030D-6E8A-4147-A177-3AD203B41FA5}">
                      <a16:colId xmlns:a16="http://schemas.microsoft.com/office/drawing/2014/main" val="1951848919"/>
                    </a:ext>
                  </a:extLst>
                </a:gridCol>
                <a:gridCol w="3759226">
                  <a:extLst>
                    <a:ext uri="{9D8B030D-6E8A-4147-A177-3AD203B41FA5}">
                      <a16:colId xmlns:a16="http://schemas.microsoft.com/office/drawing/2014/main" val="127135295"/>
                    </a:ext>
                  </a:extLst>
                </a:gridCol>
              </a:tblGrid>
              <a:tr h="384575">
                <a:tc>
                  <a:txBody>
                    <a:bodyPr/>
                    <a:lstStyle/>
                    <a:p>
                      <a:pPr>
                        <a:buNone/>
                      </a:pPr>
                      <a:r>
                        <a:rPr lang="en-IN">
                          <a:effectLst/>
                        </a:rPr>
                        <a:t>Phase</a:t>
                      </a:r>
                    </a:p>
                  </a:txBody>
                  <a:tcPr anchor="ctr"/>
                </a:tc>
                <a:tc>
                  <a:txBody>
                    <a:bodyPr/>
                    <a:lstStyle/>
                    <a:p>
                      <a:pPr>
                        <a:buNone/>
                      </a:pPr>
                      <a:r>
                        <a:rPr lang="en-IN">
                          <a:effectLst/>
                        </a:rPr>
                        <a:t>Activities</a:t>
                      </a:r>
                    </a:p>
                  </a:txBody>
                  <a:tcPr anchor="ctr"/>
                </a:tc>
                <a:tc>
                  <a:txBody>
                    <a:bodyPr/>
                    <a:lstStyle/>
                    <a:p>
                      <a:pPr>
                        <a:buNone/>
                      </a:pPr>
                      <a:r>
                        <a:rPr lang="en-IN">
                          <a:effectLst/>
                        </a:rPr>
                        <a:t>Duration</a:t>
                      </a:r>
                    </a:p>
                  </a:txBody>
                  <a:tcPr anchor="ctr"/>
                </a:tc>
                <a:extLst>
                  <a:ext uri="{0D108BD9-81ED-4DB2-BD59-A6C34878D82A}">
                    <a16:rowId xmlns:a16="http://schemas.microsoft.com/office/drawing/2014/main" val="2093834889"/>
                  </a:ext>
                </a:extLst>
              </a:tr>
              <a:tr h="673006">
                <a:tc>
                  <a:txBody>
                    <a:bodyPr/>
                    <a:lstStyle/>
                    <a:p>
                      <a:pPr>
                        <a:buNone/>
                      </a:pPr>
                      <a:r>
                        <a:rPr lang="en-IN">
                          <a:effectLst/>
                        </a:rPr>
                        <a:t>Phase 1</a:t>
                      </a:r>
                    </a:p>
                  </a:txBody>
                  <a:tcPr anchor="ctr"/>
                </a:tc>
                <a:tc>
                  <a:txBody>
                    <a:bodyPr/>
                    <a:lstStyle/>
                    <a:p>
                      <a:pPr>
                        <a:buNone/>
                      </a:pPr>
                      <a:r>
                        <a:rPr lang="en-IN">
                          <a:effectLst/>
                        </a:rPr>
                        <a:t>Requirement Analysis &amp; Project Planning</a:t>
                      </a:r>
                    </a:p>
                  </a:txBody>
                  <a:tcPr anchor="ctr"/>
                </a:tc>
                <a:tc>
                  <a:txBody>
                    <a:bodyPr/>
                    <a:lstStyle/>
                    <a:p>
                      <a:pPr>
                        <a:buNone/>
                      </a:pPr>
                      <a:r>
                        <a:rPr lang="en-IN">
                          <a:effectLst/>
                        </a:rPr>
                        <a:t>Week 1</a:t>
                      </a:r>
                    </a:p>
                  </a:txBody>
                  <a:tcPr anchor="ctr"/>
                </a:tc>
                <a:extLst>
                  <a:ext uri="{0D108BD9-81ED-4DB2-BD59-A6C34878D82A}">
                    <a16:rowId xmlns:a16="http://schemas.microsoft.com/office/drawing/2014/main" val="2857215024"/>
                  </a:ext>
                </a:extLst>
              </a:tr>
              <a:tr h="384575">
                <a:tc>
                  <a:txBody>
                    <a:bodyPr/>
                    <a:lstStyle/>
                    <a:p>
                      <a:pPr>
                        <a:buNone/>
                      </a:pPr>
                      <a:r>
                        <a:rPr lang="en-IN">
                          <a:effectLst/>
                        </a:rPr>
                        <a:t>Phase 2</a:t>
                      </a:r>
                    </a:p>
                  </a:txBody>
                  <a:tcPr anchor="ctr"/>
                </a:tc>
                <a:tc>
                  <a:txBody>
                    <a:bodyPr/>
                    <a:lstStyle/>
                    <a:p>
                      <a:pPr>
                        <a:buNone/>
                      </a:pPr>
                      <a:r>
                        <a:rPr lang="en-IN">
                          <a:effectLst/>
                        </a:rPr>
                        <a:t>Dataset Collection &amp; Understanding</a:t>
                      </a:r>
                    </a:p>
                  </a:txBody>
                  <a:tcPr anchor="ctr"/>
                </a:tc>
                <a:tc>
                  <a:txBody>
                    <a:bodyPr/>
                    <a:lstStyle/>
                    <a:p>
                      <a:pPr>
                        <a:buNone/>
                      </a:pPr>
                      <a:r>
                        <a:rPr lang="en-IN">
                          <a:effectLst/>
                        </a:rPr>
                        <a:t>Week 2</a:t>
                      </a:r>
                    </a:p>
                  </a:txBody>
                  <a:tcPr anchor="ctr"/>
                </a:tc>
                <a:extLst>
                  <a:ext uri="{0D108BD9-81ED-4DB2-BD59-A6C34878D82A}">
                    <a16:rowId xmlns:a16="http://schemas.microsoft.com/office/drawing/2014/main" val="1796467381"/>
                  </a:ext>
                </a:extLst>
              </a:tr>
              <a:tr h="384575">
                <a:tc>
                  <a:txBody>
                    <a:bodyPr/>
                    <a:lstStyle/>
                    <a:p>
                      <a:pPr>
                        <a:buNone/>
                      </a:pPr>
                      <a:r>
                        <a:rPr lang="en-IN">
                          <a:effectLst/>
                        </a:rPr>
                        <a:t>Phase 3</a:t>
                      </a:r>
                    </a:p>
                  </a:txBody>
                  <a:tcPr anchor="ctr"/>
                </a:tc>
                <a:tc>
                  <a:txBody>
                    <a:bodyPr/>
                    <a:lstStyle/>
                    <a:p>
                      <a:pPr>
                        <a:buNone/>
                      </a:pPr>
                      <a:r>
                        <a:rPr lang="en-IN">
                          <a:effectLst/>
                        </a:rPr>
                        <a:t>Data Preprocessing &amp; EDA</a:t>
                      </a:r>
                    </a:p>
                  </a:txBody>
                  <a:tcPr anchor="ctr"/>
                </a:tc>
                <a:tc>
                  <a:txBody>
                    <a:bodyPr/>
                    <a:lstStyle/>
                    <a:p>
                      <a:pPr>
                        <a:buNone/>
                      </a:pPr>
                      <a:r>
                        <a:rPr lang="en-IN">
                          <a:effectLst/>
                        </a:rPr>
                        <a:t>Week 3</a:t>
                      </a:r>
                    </a:p>
                  </a:txBody>
                  <a:tcPr anchor="ctr"/>
                </a:tc>
                <a:extLst>
                  <a:ext uri="{0D108BD9-81ED-4DB2-BD59-A6C34878D82A}">
                    <a16:rowId xmlns:a16="http://schemas.microsoft.com/office/drawing/2014/main" val="1934578076"/>
                  </a:ext>
                </a:extLst>
              </a:tr>
              <a:tr h="673006">
                <a:tc>
                  <a:txBody>
                    <a:bodyPr/>
                    <a:lstStyle/>
                    <a:p>
                      <a:pPr>
                        <a:buNone/>
                      </a:pPr>
                      <a:r>
                        <a:rPr lang="en-IN" dirty="0">
                          <a:effectLst/>
                        </a:rPr>
                        <a:t>Phase 4</a:t>
                      </a:r>
                    </a:p>
                  </a:txBody>
                  <a:tcPr anchor="ctr"/>
                </a:tc>
                <a:tc>
                  <a:txBody>
                    <a:bodyPr/>
                    <a:lstStyle/>
                    <a:p>
                      <a:pPr>
                        <a:buNone/>
                      </a:pPr>
                      <a:r>
                        <a:rPr lang="en-IN">
                          <a:effectLst/>
                        </a:rPr>
                        <a:t>AI Agent Development (Eligibility, Document, Fraud)</a:t>
                      </a:r>
                    </a:p>
                  </a:txBody>
                  <a:tcPr anchor="ctr"/>
                </a:tc>
                <a:tc>
                  <a:txBody>
                    <a:bodyPr/>
                    <a:lstStyle/>
                    <a:p>
                      <a:pPr>
                        <a:buNone/>
                      </a:pPr>
                      <a:r>
                        <a:rPr lang="en-IN">
                          <a:effectLst/>
                        </a:rPr>
                        <a:t>Week 4</a:t>
                      </a:r>
                    </a:p>
                  </a:txBody>
                  <a:tcPr anchor="ctr"/>
                </a:tc>
                <a:extLst>
                  <a:ext uri="{0D108BD9-81ED-4DB2-BD59-A6C34878D82A}">
                    <a16:rowId xmlns:a16="http://schemas.microsoft.com/office/drawing/2014/main" val="1943339332"/>
                  </a:ext>
                </a:extLst>
              </a:tr>
              <a:tr h="673006">
                <a:tc>
                  <a:txBody>
                    <a:bodyPr/>
                    <a:lstStyle/>
                    <a:p>
                      <a:pPr>
                        <a:buNone/>
                      </a:pPr>
                      <a:r>
                        <a:rPr lang="en-IN">
                          <a:effectLst/>
                        </a:rPr>
                        <a:t>Phase 5</a:t>
                      </a:r>
                    </a:p>
                  </a:txBody>
                  <a:tcPr anchor="ctr"/>
                </a:tc>
                <a:tc>
                  <a:txBody>
                    <a:bodyPr/>
                    <a:lstStyle/>
                    <a:p>
                      <a:pPr>
                        <a:buNone/>
                      </a:pPr>
                      <a:r>
                        <a:rPr lang="en-IN">
                          <a:effectLst/>
                        </a:rPr>
                        <a:t>Orchestrator Agent &amp; Chatbot Development</a:t>
                      </a:r>
                    </a:p>
                  </a:txBody>
                  <a:tcPr anchor="ctr"/>
                </a:tc>
                <a:tc>
                  <a:txBody>
                    <a:bodyPr/>
                    <a:lstStyle/>
                    <a:p>
                      <a:pPr>
                        <a:buNone/>
                      </a:pPr>
                      <a:r>
                        <a:rPr lang="en-IN">
                          <a:effectLst/>
                        </a:rPr>
                        <a:t>Week 5</a:t>
                      </a:r>
                    </a:p>
                  </a:txBody>
                  <a:tcPr anchor="ctr"/>
                </a:tc>
                <a:extLst>
                  <a:ext uri="{0D108BD9-81ED-4DB2-BD59-A6C34878D82A}">
                    <a16:rowId xmlns:a16="http://schemas.microsoft.com/office/drawing/2014/main" val="2396245811"/>
                  </a:ext>
                </a:extLst>
              </a:tr>
              <a:tr h="384575">
                <a:tc>
                  <a:txBody>
                    <a:bodyPr/>
                    <a:lstStyle/>
                    <a:p>
                      <a:pPr>
                        <a:buNone/>
                      </a:pPr>
                      <a:r>
                        <a:rPr lang="en-IN">
                          <a:effectLst/>
                        </a:rPr>
                        <a:t>Phase 6</a:t>
                      </a:r>
                    </a:p>
                  </a:txBody>
                  <a:tcPr anchor="ctr"/>
                </a:tc>
                <a:tc>
                  <a:txBody>
                    <a:bodyPr/>
                    <a:lstStyle/>
                    <a:p>
                      <a:pPr>
                        <a:buNone/>
                      </a:pPr>
                      <a:r>
                        <a:rPr lang="en-IN">
                          <a:effectLst/>
                        </a:rPr>
                        <a:t>Streamlit UI &amp; Database Integration</a:t>
                      </a:r>
                    </a:p>
                  </a:txBody>
                  <a:tcPr anchor="ctr"/>
                </a:tc>
                <a:tc>
                  <a:txBody>
                    <a:bodyPr/>
                    <a:lstStyle/>
                    <a:p>
                      <a:pPr>
                        <a:buNone/>
                      </a:pPr>
                      <a:r>
                        <a:rPr lang="en-IN">
                          <a:effectLst/>
                        </a:rPr>
                        <a:t>Week 6</a:t>
                      </a:r>
                    </a:p>
                  </a:txBody>
                  <a:tcPr anchor="ctr"/>
                </a:tc>
                <a:extLst>
                  <a:ext uri="{0D108BD9-81ED-4DB2-BD59-A6C34878D82A}">
                    <a16:rowId xmlns:a16="http://schemas.microsoft.com/office/drawing/2014/main" val="236721791"/>
                  </a:ext>
                </a:extLst>
              </a:tr>
              <a:tr h="673006">
                <a:tc>
                  <a:txBody>
                    <a:bodyPr/>
                    <a:lstStyle/>
                    <a:p>
                      <a:pPr>
                        <a:buNone/>
                      </a:pPr>
                      <a:r>
                        <a:rPr lang="en-IN">
                          <a:effectLst/>
                        </a:rPr>
                        <a:t>Phase 7</a:t>
                      </a:r>
                    </a:p>
                  </a:txBody>
                  <a:tcPr anchor="ctr"/>
                </a:tc>
                <a:tc>
                  <a:txBody>
                    <a:bodyPr/>
                    <a:lstStyle/>
                    <a:p>
                      <a:pPr>
                        <a:buNone/>
                      </a:pPr>
                      <a:r>
                        <a:rPr lang="en-IN">
                          <a:effectLst/>
                        </a:rPr>
                        <a:t>Testing, Evaluation &amp; Performance Analysis</a:t>
                      </a:r>
                    </a:p>
                  </a:txBody>
                  <a:tcPr anchor="ctr"/>
                </a:tc>
                <a:tc>
                  <a:txBody>
                    <a:bodyPr/>
                    <a:lstStyle/>
                    <a:p>
                      <a:pPr>
                        <a:buNone/>
                      </a:pPr>
                      <a:r>
                        <a:rPr lang="en-IN">
                          <a:effectLst/>
                        </a:rPr>
                        <a:t>Week 7</a:t>
                      </a:r>
                    </a:p>
                  </a:txBody>
                  <a:tcPr anchor="ctr"/>
                </a:tc>
                <a:extLst>
                  <a:ext uri="{0D108BD9-81ED-4DB2-BD59-A6C34878D82A}">
                    <a16:rowId xmlns:a16="http://schemas.microsoft.com/office/drawing/2014/main" val="2724658114"/>
                  </a:ext>
                </a:extLst>
              </a:tr>
              <a:tr h="673006">
                <a:tc>
                  <a:txBody>
                    <a:bodyPr/>
                    <a:lstStyle/>
                    <a:p>
                      <a:pPr>
                        <a:buNone/>
                      </a:pPr>
                      <a:r>
                        <a:rPr lang="en-IN">
                          <a:effectLst/>
                        </a:rPr>
                        <a:t>Phase 8</a:t>
                      </a:r>
                    </a:p>
                  </a:txBody>
                  <a:tcPr anchor="ctr"/>
                </a:tc>
                <a:tc>
                  <a:txBody>
                    <a:bodyPr/>
                    <a:lstStyle/>
                    <a:p>
                      <a:pPr>
                        <a:buNone/>
                      </a:pPr>
                      <a:r>
                        <a:rPr lang="en-IN">
                          <a:effectLst/>
                        </a:rPr>
                        <a:t>Deployment, Documentation &amp; Final Presentation</a:t>
                      </a:r>
                    </a:p>
                  </a:txBody>
                  <a:tcPr anchor="ctr"/>
                </a:tc>
                <a:tc>
                  <a:txBody>
                    <a:bodyPr/>
                    <a:lstStyle/>
                    <a:p>
                      <a:pPr>
                        <a:buNone/>
                      </a:pPr>
                      <a:r>
                        <a:rPr lang="en-IN" dirty="0">
                          <a:effectLst/>
                        </a:rPr>
                        <a:t>Week 8</a:t>
                      </a:r>
                    </a:p>
                  </a:txBody>
                  <a:tcPr anchor="ctr"/>
                </a:tc>
                <a:extLst>
                  <a:ext uri="{0D108BD9-81ED-4DB2-BD59-A6C34878D82A}">
                    <a16:rowId xmlns:a16="http://schemas.microsoft.com/office/drawing/2014/main" val="2987129493"/>
                  </a:ext>
                </a:extLst>
              </a:tr>
            </a:tbl>
          </a:graphicData>
        </a:graphic>
      </p:graphicFrame>
    </p:spTree>
    <p:extLst>
      <p:ext uri="{BB962C8B-B14F-4D97-AF65-F5344CB8AC3E}">
        <p14:creationId xmlns:p14="http://schemas.microsoft.com/office/powerpoint/2010/main" val="2501109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Pipeline structure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8F06059-3297-B54F-C095-4EF4AE30F5FA}"/>
              </a:ext>
            </a:extLst>
          </p:cNvPr>
          <p:cNvPicPr>
            <a:picLocks noChangeAspect="1"/>
          </p:cNvPicPr>
          <p:nvPr/>
        </p:nvPicPr>
        <p:blipFill>
          <a:blip r:embed="rId2"/>
          <a:stretch>
            <a:fillRect/>
          </a:stretch>
        </p:blipFill>
        <p:spPr>
          <a:xfrm>
            <a:off x="404734" y="1443792"/>
            <a:ext cx="10475600" cy="4657205"/>
          </a:xfrm>
          <a:prstGeom prst="rect">
            <a:avLst/>
          </a:prstGeom>
        </p:spPr>
      </p:pic>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FB66E7-2309-0334-ABDF-5A8C9B223A2F}"/>
              </a:ext>
            </a:extLst>
          </p:cNvPr>
          <p:cNvSpPr>
            <a:spLocks noGrp="1"/>
          </p:cNvSpPr>
          <p:nvPr>
            <p:ph type="body" sz="quarter" idx="13"/>
          </p:nvPr>
        </p:nvSpPr>
        <p:spPr/>
        <p:txBody>
          <a:bodyPr/>
          <a:lstStyle/>
          <a:p>
            <a:pPr marL="0" indent="0" algn="just">
              <a:buNone/>
            </a:pPr>
            <a:r>
              <a:rPr lang="en-IN" b="0" dirty="0">
                <a:solidFill>
                  <a:schemeClr val="tx1"/>
                </a:solidFill>
              </a:rPr>
              <a:t>The proposed AI-Powered Health Insurance Claim Assistance System integrates claim submission, document verification, eligibility analysis, fraud detection, AI assistance, healthcare provider recommendation, and claim tracking into a single platform. The system aims to reduce manual effort and provide users with faster, clearer, and more accessible claim assistance. The integration of AI and machine learning can further improve the efficiency of insurance claim management while supporting better decision-making</a:t>
            </a:r>
            <a:r>
              <a:rPr lang="en-IN" dirty="0">
                <a:solidFill>
                  <a:schemeClr val="tx1"/>
                </a:solidFill>
              </a:rPr>
              <a:t>.</a:t>
            </a:r>
          </a:p>
        </p:txBody>
      </p:sp>
      <p:sp>
        <p:nvSpPr>
          <p:cNvPr id="3" name="Text Placeholder 2">
            <a:extLst>
              <a:ext uri="{FF2B5EF4-FFF2-40B4-BE49-F238E27FC236}">
                <a16:creationId xmlns:a16="http://schemas.microsoft.com/office/drawing/2014/main" id="{9E4FA822-D41A-BA01-FD3A-E000CF795963}"/>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Conclusion</a:t>
            </a:r>
          </a:p>
        </p:txBody>
      </p:sp>
    </p:spTree>
    <p:extLst>
      <p:ext uri="{BB962C8B-B14F-4D97-AF65-F5344CB8AC3E}">
        <p14:creationId xmlns:p14="http://schemas.microsoft.com/office/powerpoint/2010/main" val="2304776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AA6FB5B-0E98-019D-F42B-960B5F5B5BA3}"/>
              </a:ext>
            </a:extLst>
          </p:cNvPr>
          <p:cNvSpPr>
            <a:spLocks noGrp="1"/>
          </p:cNvSpPr>
          <p:nvPr>
            <p:ph type="body" sz="quarter" idx="13"/>
          </p:nvPr>
        </p:nvSpPr>
        <p:spPr/>
        <p:txBody>
          <a:bodyPr/>
          <a:lstStyle/>
          <a:p>
            <a:pPr algn="just"/>
            <a:r>
              <a:rPr lang="en-IN" b="0" dirty="0">
                <a:solidFill>
                  <a:schemeClr val="tx1"/>
                </a:solidFill>
              </a:rPr>
              <a:t>I sincerely thank LTM and L&amp;T </a:t>
            </a:r>
            <a:r>
              <a:rPr lang="en-IN" b="0" dirty="0" err="1">
                <a:solidFill>
                  <a:schemeClr val="tx1"/>
                </a:solidFill>
              </a:rPr>
              <a:t>EduTech</a:t>
            </a:r>
            <a:r>
              <a:rPr lang="en-IN" b="0" dirty="0">
                <a:solidFill>
                  <a:schemeClr val="tx1"/>
                </a:solidFill>
              </a:rPr>
              <a:t> for providing the necessary infrastructure, laptop, training room, ID card, and the valuable two-month opportunity to enhance my technical skills through practical project development.</a:t>
            </a:r>
          </a:p>
          <a:p>
            <a:pPr algn="just"/>
            <a:r>
              <a:rPr lang="en-IN" b="0" dirty="0">
                <a:solidFill>
                  <a:schemeClr val="tx1"/>
                </a:solidFill>
              </a:rPr>
              <a:t>I express my special gratitude to Dr. Ganesh for his continuous guidance, valuable suggestions, and support throughout the project. I also extend my sincere thanks to the Classroom Managers for their daily monitoring, coordination, and assistance in resolving various issues.</a:t>
            </a:r>
          </a:p>
          <a:p>
            <a:pPr algn="just"/>
            <a:r>
              <a:rPr lang="en-IN" b="0" dirty="0">
                <a:solidFill>
                  <a:schemeClr val="tx1"/>
                </a:solidFill>
              </a:rPr>
              <a:t>Finally, I would like to express my special thanks to Mr. Jayakanthan, Manager – Delivery Operations, L&amp;T </a:t>
            </a:r>
            <a:r>
              <a:rPr lang="en-IN" b="0" dirty="0" err="1">
                <a:solidFill>
                  <a:schemeClr val="tx1"/>
                </a:solidFill>
              </a:rPr>
              <a:t>EduTech</a:t>
            </a:r>
            <a:r>
              <a:rPr lang="en-IN" b="0" dirty="0">
                <a:solidFill>
                  <a:schemeClr val="tx1"/>
                </a:solidFill>
              </a:rPr>
              <a:t>, for his encouragement, continuous support, and for providing me with this valuable opportunity to develop my technical and professional skills.</a:t>
            </a:r>
          </a:p>
          <a:p>
            <a:endParaRPr lang="en-IN" dirty="0"/>
          </a:p>
        </p:txBody>
      </p:sp>
      <p:sp>
        <p:nvSpPr>
          <p:cNvPr id="3" name="Text Placeholder 2">
            <a:extLst>
              <a:ext uri="{FF2B5EF4-FFF2-40B4-BE49-F238E27FC236}">
                <a16:creationId xmlns:a16="http://schemas.microsoft.com/office/drawing/2014/main" id="{F62C1559-8907-78B5-DA67-2AFC759FF49C}"/>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ACKNOWLEDGEMENT</a:t>
            </a:r>
          </a:p>
        </p:txBody>
      </p:sp>
    </p:spTree>
    <p:extLst>
      <p:ext uri="{BB962C8B-B14F-4D97-AF65-F5344CB8AC3E}">
        <p14:creationId xmlns:p14="http://schemas.microsoft.com/office/powerpoint/2010/main" val="4216572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F915F5-C257-B838-45D5-845C8933B151}"/>
              </a:ext>
            </a:extLst>
          </p:cNvPr>
          <p:cNvSpPr>
            <a:spLocks noGrp="1"/>
          </p:cNvSpPr>
          <p:nvPr>
            <p:ph type="body" sz="quarter" idx="13"/>
          </p:nvPr>
        </p:nvSpPr>
        <p:spPr/>
        <p:txBody>
          <a:bodyPr/>
          <a:lstStyle/>
          <a:p>
            <a:pPr lvl="0"/>
            <a:r>
              <a:rPr lang="en-IN" b="0" dirty="0" err="1">
                <a:solidFill>
                  <a:schemeClr val="tx1"/>
                </a:solidFill>
              </a:rPr>
              <a:t>Breiman</a:t>
            </a:r>
            <a:r>
              <a:rPr lang="en-IN" b="0" dirty="0">
                <a:solidFill>
                  <a:schemeClr val="tx1"/>
                </a:solidFill>
              </a:rPr>
              <a:t>, L. — Random Forests, Machine Learning, 2001. </a:t>
            </a:r>
          </a:p>
          <a:p>
            <a:pPr lvl="0"/>
            <a:r>
              <a:rPr lang="en-IN" b="0" dirty="0">
                <a:solidFill>
                  <a:schemeClr val="tx1"/>
                </a:solidFill>
              </a:rPr>
              <a:t>Pedregosa, F. et al. — Scikit-learn: Machine Learning in Python, Journal of Machine Learning Research, 2011. </a:t>
            </a:r>
          </a:p>
          <a:p>
            <a:pPr lvl="0"/>
            <a:r>
              <a:rPr lang="en-IN" b="0" dirty="0">
                <a:solidFill>
                  <a:schemeClr val="tx1"/>
                </a:solidFill>
              </a:rPr>
              <a:t>McKinney, W. — Python for Data Analysis, O'Reilly Media. </a:t>
            </a:r>
          </a:p>
          <a:p>
            <a:pPr lvl="0"/>
            <a:r>
              <a:rPr lang="en-IN" b="0" dirty="0" err="1">
                <a:solidFill>
                  <a:schemeClr val="tx1"/>
                </a:solidFill>
              </a:rPr>
              <a:t>FastAPI</a:t>
            </a:r>
            <a:r>
              <a:rPr lang="en-IN" b="0" dirty="0">
                <a:solidFill>
                  <a:schemeClr val="tx1"/>
                </a:solidFill>
              </a:rPr>
              <a:t> Documentation — Backend API development framework. </a:t>
            </a:r>
          </a:p>
          <a:p>
            <a:pPr lvl="0"/>
            <a:r>
              <a:rPr lang="en-IN" b="0" dirty="0">
                <a:solidFill>
                  <a:schemeClr val="tx1"/>
                </a:solidFill>
              </a:rPr>
              <a:t>React Documentation — Frontend application development. </a:t>
            </a:r>
          </a:p>
          <a:p>
            <a:pPr lvl="0"/>
            <a:r>
              <a:rPr lang="en-IN" b="0" dirty="0" err="1">
                <a:solidFill>
                  <a:schemeClr val="tx1"/>
                </a:solidFill>
              </a:rPr>
              <a:t>Groq</a:t>
            </a:r>
            <a:r>
              <a:rPr lang="en-IN" b="0" dirty="0">
                <a:solidFill>
                  <a:schemeClr val="tx1"/>
                </a:solidFill>
              </a:rPr>
              <a:t> API Documentation — Large Language Model inference. </a:t>
            </a:r>
          </a:p>
          <a:p>
            <a:pPr lvl="0"/>
            <a:r>
              <a:rPr lang="en-IN" b="0" dirty="0">
                <a:solidFill>
                  <a:schemeClr val="tx1"/>
                </a:solidFill>
              </a:rPr>
              <a:t>Relevant health insurance claims datasets used for data analysis and fraud detection.</a:t>
            </a:r>
          </a:p>
          <a:p>
            <a:endParaRPr lang="en-IN" dirty="0">
              <a:solidFill>
                <a:schemeClr val="tx1"/>
              </a:solidFill>
            </a:endParaRPr>
          </a:p>
        </p:txBody>
      </p:sp>
      <p:sp>
        <p:nvSpPr>
          <p:cNvPr id="3" name="Text Placeholder 2">
            <a:extLst>
              <a:ext uri="{FF2B5EF4-FFF2-40B4-BE49-F238E27FC236}">
                <a16:creationId xmlns:a16="http://schemas.microsoft.com/office/drawing/2014/main" id="{1198DB85-48E6-7BCD-C0FA-3204CA8AAEBB}"/>
              </a:ext>
            </a:extLst>
          </p:cNvPr>
          <p:cNvSpPr>
            <a:spLocks noGrp="1"/>
          </p:cNvSpPr>
          <p:nvPr>
            <p:ph type="body" sz="quarter" idx="15"/>
          </p:nvPr>
        </p:nvSpPr>
        <p:spPr/>
        <p:txBody>
          <a:bodyPr/>
          <a:lstStyle/>
          <a:p>
            <a:pPr marL="0" indent="0">
              <a:buNone/>
            </a:pPr>
            <a:r>
              <a:rPr lang="en-IN" sz="3600" dirty="0">
                <a:solidFill>
                  <a:schemeClr val="accent1">
                    <a:lumMod val="50000"/>
                  </a:schemeClr>
                </a:solidFill>
              </a:rPr>
              <a:t>References</a:t>
            </a:r>
          </a:p>
        </p:txBody>
      </p:sp>
    </p:spTree>
    <p:extLst>
      <p:ext uri="{BB962C8B-B14F-4D97-AF65-F5344CB8AC3E}">
        <p14:creationId xmlns:p14="http://schemas.microsoft.com/office/powerpoint/2010/main" val="30449014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591</TotalTime>
  <Words>1031</Words>
  <Application>Microsoft Office PowerPoint</Application>
  <PresentationFormat>Widescreen</PresentationFormat>
  <Paragraphs>181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Sneha Shree</cp:lastModifiedBy>
  <cp:revision>16</cp:revision>
  <dcterms:created xsi:type="dcterms:W3CDTF">2024-05-13T10:33:11Z</dcterms:created>
  <dcterms:modified xsi:type="dcterms:W3CDTF">2026-10-08T10:10:25Z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